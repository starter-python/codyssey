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7" r:id="rId2"/>
    <p:sldId id="318" r:id="rId3"/>
    <p:sldId id="256" r:id="rId4"/>
    <p:sldId id="319" r:id="rId5"/>
    <p:sldId id="317" r:id="rId6"/>
    <p:sldId id="320" r:id="rId7"/>
    <p:sldId id="321" r:id="rId8"/>
    <p:sldId id="322" r:id="rId9"/>
    <p:sldId id="323" r:id="rId10"/>
    <p:sldId id="324" r:id="rId11"/>
    <p:sldId id="258" r:id="rId12"/>
    <p:sldId id="268" r:id="rId13"/>
    <p:sldId id="259" r:id="rId14"/>
    <p:sldId id="269" r:id="rId15"/>
    <p:sldId id="270" r:id="rId16"/>
    <p:sldId id="271" r:id="rId17"/>
    <p:sldId id="272" r:id="rId18"/>
    <p:sldId id="267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66" r:id="rId35"/>
    <p:sldId id="265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312" r:id="rId44"/>
    <p:sldId id="314" r:id="rId45"/>
    <p:sldId id="313" r:id="rId46"/>
    <p:sldId id="315" r:id="rId47"/>
    <p:sldId id="295" r:id="rId48"/>
    <p:sldId id="297" r:id="rId49"/>
    <p:sldId id="296" r:id="rId50"/>
    <p:sldId id="299" r:id="rId51"/>
    <p:sldId id="300" r:id="rId52"/>
    <p:sldId id="304" r:id="rId53"/>
    <p:sldId id="309" r:id="rId54"/>
    <p:sldId id="302" r:id="rId55"/>
    <p:sldId id="303" r:id="rId56"/>
    <p:sldId id="305" r:id="rId57"/>
    <p:sldId id="264" r:id="rId58"/>
    <p:sldId id="260" r:id="rId59"/>
    <p:sldId id="261" r:id="rId60"/>
    <p:sldId id="262" r:id="rId61"/>
    <p:sldId id="311" r:id="rId62"/>
    <p:sldId id="316" r:id="rId63"/>
    <p:sldId id="310" r:id="rId64"/>
    <p:sldId id="263" r:id="rId65"/>
    <p:sldId id="306" r:id="rId66"/>
    <p:sldId id="307" r:id="rId67"/>
    <p:sldId id="308" r:id="rId6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F0C07-999B-41C7-BEEA-147FB8D16ECF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42768-3D22-4C55-93DF-2D3227980B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42768-3D22-4C55-93DF-2D3227980BF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2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42768-3D22-4C55-93DF-2D3227980BF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404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42768-3D22-4C55-93DF-2D3227980BF7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89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42768-3D22-4C55-93DF-2D3227980BF7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67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F284F-9D3F-E22A-ACE1-0969D7607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637E83-4252-5B35-AA02-32089A457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5DB1C-E980-5AE7-3C71-DEE9C692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6F6F66-3ACB-3690-BE43-39862FBD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981141-C156-6540-60B4-471EB22C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47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7C68D-FF74-0520-1068-4C4A2FC7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E23D80-B8B3-B54F-C9F4-1C07D419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E77F56-E415-E06C-A61B-099E3DD0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156EF-2FCC-D68C-7784-A7651678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47034-C850-E18D-7A20-63EDC30B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32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A784-2354-FC8A-4C68-0F1D2BA7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00F3C-14FE-1C65-0F57-A8EA8CA59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D6738-400F-4B6D-C769-A233A0DB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0CAAE-9393-914F-ADFA-861965DF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F12F30-ACDB-2B35-5D1C-E42ADF3C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8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2D351-0F0F-7D3D-8B7D-0921AC87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32A18-5334-7543-E8AA-9C7815C46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49E9B4-EAD3-7A15-D8AB-9805DD7D7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C685C1-05C7-EFF4-E102-C245DACA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D7EDD3-BC66-E927-9E84-8DC00179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3FA243-4F6B-3ADD-0B67-04E90052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4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77E4C-E6C8-3493-9888-1F6184D3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87DEA9-1E4D-C378-8490-D16187226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52422-8021-A46B-EDC6-0286D8B8A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B2946B-DA3D-810A-A69C-5144C5D29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83FE01-3616-AF62-FAC7-5C00B6EE7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226387-9D6B-8E9A-4DEC-D113521B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9733D7-20F5-ED01-46FB-98FF3971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D6F7AA-DD32-B294-3662-B089167F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14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3F510-4458-463F-0EA9-9AE9732B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DD04A3-A2CD-6283-AB11-C2D5C59E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D5B0CA-1DE1-4943-7A4F-AE7A875B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25B44A-BC45-B93F-AD50-9984623E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84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34402-CF13-0AB9-CE16-E57BA608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8B4E43-7A53-600C-58F4-95AF150A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2E67D8-BCF1-61ED-FDFC-E7331777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65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FA7C4-C711-7165-7161-247A43AB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7C928-6AB7-E58F-C32A-A20B41B7A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020859-1EE8-990E-4798-5F8850685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5584B3-78C7-779B-E7A4-DEC3DE0E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E14A09-1F24-47A5-0E37-5D9F71DD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A16810-6D2A-A024-1F40-0CDAA333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438C9-2B4B-5ECA-DC02-72995AEC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FF25ED-6B02-9358-5198-00E3D55ED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6479E6-CED3-41D6-5446-4E965282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EF5AFD-6B23-1C9D-1641-2788B72D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51B41-7DA0-1F8A-84F1-2CFD94DE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5DFDF0-1A57-DC73-D89D-BD4598E8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24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8EA8B-8E0F-38D1-142D-69407B48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F77117-E929-D563-1759-F4A10286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92F61-BCCF-3FAB-2558-37BB945C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C87DB9-BE0A-48E1-4BA9-AC607311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F8EBBC-302C-FBDA-51AD-2BB220E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20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0724B9-5201-4281-9E9A-09D514B23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BF93FB-1638-5C28-07A1-96FBC9D9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CA0857-E854-2A44-75B7-F7D39519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8F62B-21AC-E53C-5471-F0795A3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4014B-95CF-825C-1EEA-6119CC63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8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2AF7D2-D166-E9AC-F6D4-26F7B121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7933A-9C25-FCE5-AB7B-4989EA8F9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8166B-5604-95DF-13DB-BAC02CB3A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380A0-5501-4CF1-9A20-56729C42C3A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0CD43B-9F0B-DD28-20E1-373D478EC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65C2-96C2-598D-EA95-C2A7114D7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381A9-A0AF-45E2-9341-A242216CFD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47AEE-4DEA-2858-4E36-456952C45291}"/>
              </a:ext>
            </a:extLst>
          </p:cNvPr>
          <p:cNvSpPr txBox="1"/>
          <p:nvPr/>
        </p:nvSpPr>
        <p:spPr>
          <a:xfrm>
            <a:off x="2666215" y="2491692"/>
            <a:ext cx="6859570" cy="1874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200" b="1" dirty="0"/>
              <a:t>응용 과정</a:t>
            </a:r>
            <a:r>
              <a:rPr lang="en-US" altLang="ko-KR" sz="3200" b="1" dirty="0"/>
              <a:t> M1-2</a:t>
            </a:r>
          </a:p>
          <a:p>
            <a:pPr algn="ctr">
              <a:lnSpc>
                <a:spcPct val="125000"/>
              </a:lnSpc>
            </a:pPr>
            <a:r>
              <a:rPr lang="ko-KR" altLang="ko-KR" sz="3200" b="1" dirty="0"/>
              <a:t>AI </a:t>
            </a:r>
            <a:r>
              <a:rPr lang="ko-KR" altLang="ko-KR" sz="3200" b="1" dirty="0" err="1"/>
              <a:t>Agent</a:t>
            </a:r>
            <a:r>
              <a:rPr lang="ko-KR" altLang="ko-KR" sz="3200" b="1" dirty="0"/>
              <a:t> 개발: 나만의 AI 비서 구축</a:t>
            </a:r>
            <a:endParaRPr lang="en-US" altLang="ko-KR" sz="3200" b="1" dirty="0"/>
          </a:p>
          <a:p>
            <a:pPr algn="ctr">
              <a:lnSpc>
                <a:spcPct val="125000"/>
              </a:lnSpc>
            </a:pPr>
            <a:r>
              <a:rPr lang="ko-KR" altLang="en-US" sz="3200" b="1"/>
              <a:t>프로젝트 </a:t>
            </a:r>
            <a:r>
              <a:rPr lang="ko-KR" altLang="en-US" sz="3200" b="1" dirty="0"/>
              <a:t>가이드</a:t>
            </a:r>
          </a:p>
        </p:txBody>
      </p:sp>
    </p:spTree>
    <p:extLst>
      <p:ext uri="{BB962C8B-B14F-4D97-AF65-F5344CB8AC3E}">
        <p14:creationId xmlns:p14="http://schemas.microsoft.com/office/powerpoint/2010/main" val="289087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5E11474-83FD-750F-E2E9-ADB6B6CA7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708" y="693143"/>
            <a:ext cx="8489201" cy="5471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A29809-4B9A-2BE4-2277-0F84F3E0F6CB}"/>
              </a:ext>
            </a:extLst>
          </p:cNvPr>
          <p:cNvSpPr txBox="1"/>
          <p:nvPr/>
        </p:nvSpPr>
        <p:spPr>
          <a:xfrm>
            <a:off x="122274" y="122273"/>
            <a:ext cx="130035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미션 목표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766AC-2B99-802A-C2B3-F7C711EE57CA}"/>
              </a:ext>
            </a:extLst>
          </p:cNvPr>
          <p:cNvSpPr txBox="1"/>
          <p:nvPr/>
        </p:nvSpPr>
        <p:spPr>
          <a:xfrm>
            <a:off x="277091" y="1006764"/>
            <a:ext cx="302679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웹 채팅 사이트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AI </a:t>
            </a:r>
            <a:r>
              <a:rPr lang="ko-KR" altLang="en-US" dirty="0"/>
              <a:t>와 소통하며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일정</a:t>
            </a:r>
            <a:r>
              <a:rPr lang="en-US" altLang="ko-KR" dirty="0"/>
              <a:t>, </a:t>
            </a:r>
            <a:r>
              <a:rPr lang="ko-KR" altLang="en-US" dirty="0"/>
              <a:t>업무를 할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분산 배포의 체험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웹 서버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비즈니스 서버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데이터베이스 서버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</a:t>
            </a:r>
            <a:r>
              <a:rPr lang="en-US" altLang="ko-KR" dirty="0"/>
              <a:t> </a:t>
            </a:r>
            <a:r>
              <a:rPr lang="ko-KR" altLang="en-US" dirty="0"/>
              <a:t>서비스와의 연동 처리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인증 방식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API </a:t>
            </a:r>
            <a:r>
              <a:rPr lang="ko-KR" altLang="en-US" dirty="0"/>
              <a:t>요청</a:t>
            </a:r>
            <a:r>
              <a:rPr lang="en-US" altLang="ko-KR" dirty="0"/>
              <a:t>,</a:t>
            </a:r>
            <a:r>
              <a:rPr lang="ko-KR" altLang="en-US" dirty="0"/>
              <a:t>응답 흐름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36D23-60A2-8698-E84C-D4D425F390AD}"/>
              </a:ext>
            </a:extLst>
          </p:cNvPr>
          <p:cNvSpPr txBox="1"/>
          <p:nvPr/>
        </p:nvSpPr>
        <p:spPr>
          <a:xfrm>
            <a:off x="7670308" y="4330751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2"/>
                </a:solidFill>
              </a:rPr>
              <a:t>미션 목표에 </a:t>
            </a:r>
            <a:r>
              <a:rPr lang="ko-KR" altLang="en-US">
                <a:solidFill>
                  <a:schemeClr val="bg2"/>
                </a:solidFill>
              </a:rPr>
              <a:t>가까운 </a:t>
            </a:r>
            <a:r>
              <a:rPr lang="en-US" altLang="ko-KR" dirty="0">
                <a:solidFill>
                  <a:schemeClr val="bg2"/>
                </a:solidFill>
              </a:rPr>
              <a:t>UI </a:t>
            </a:r>
            <a:r>
              <a:rPr lang="ko-KR" altLang="en-US" dirty="0">
                <a:solidFill>
                  <a:schemeClr val="bg2"/>
                </a:solidFill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6311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DC19CC-F62C-12F5-F2A6-6E42479E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2" y="1267187"/>
            <a:ext cx="11968716" cy="43236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2816F6-FD3B-91F0-E655-D2DFA4824186}"/>
              </a:ext>
            </a:extLst>
          </p:cNvPr>
          <p:cNvSpPr txBox="1"/>
          <p:nvPr/>
        </p:nvSpPr>
        <p:spPr>
          <a:xfrm>
            <a:off x="122274" y="122273"/>
            <a:ext cx="267252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프로젝트 인프라 구축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1ADB649-9107-758E-C8A7-59E464CF9572}"/>
              </a:ext>
            </a:extLst>
          </p:cNvPr>
          <p:cNvSpPr/>
          <p:nvPr/>
        </p:nvSpPr>
        <p:spPr>
          <a:xfrm>
            <a:off x="9494983" y="4692073"/>
            <a:ext cx="2050472" cy="57265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2"/>
                </a:solidFill>
              </a:rPr>
              <a:t>Gemini</a:t>
            </a:r>
            <a:r>
              <a:rPr lang="ko-KR" altLang="en-US" dirty="0">
                <a:solidFill>
                  <a:schemeClr val="bg2"/>
                </a:solidFill>
              </a:rPr>
              <a:t> </a:t>
            </a:r>
            <a:r>
              <a:rPr lang="en-US" altLang="ko-KR" dirty="0">
                <a:solidFill>
                  <a:schemeClr val="bg2"/>
                </a:solidFill>
              </a:rPr>
              <a:t>API</a:t>
            </a:r>
          </a:p>
          <a:p>
            <a:pPr algn="ctr"/>
            <a:r>
              <a:rPr lang="en-US" altLang="ko-KR" dirty="0" err="1">
                <a:solidFill>
                  <a:schemeClr val="bg2"/>
                </a:solidFill>
              </a:rPr>
              <a:t>Codyssey</a:t>
            </a:r>
            <a:r>
              <a:rPr lang="en-US" altLang="ko-KR" dirty="0">
                <a:solidFill>
                  <a:schemeClr val="bg2"/>
                </a:solidFill>
              </a:rPr>
              <a:t> API</a:t>
            </a:r>
            <a:endParaRPr lang="ko-KR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91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F6EE-7736-4B85-DAB2-16A5A901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C65725-5C8D-B01E-1386-428FC5DA8302}"/>
              </a:ext>
            </a:extLst>
          </p:cNvPr>
          <p:cNvSpPr txBox="1"/>
          <p:nvPr/>
        </p:nvSpPr>
        <p:spPr>
          <a:xfrm>
            <a:off x="122274" y="122273"/>
            <a:ext cx="215956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프로젝트 진행 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0ECEE-F0DF-1C82-4EAD-57C24EF0D57B}"/>
              </a:ext>
            </a:extLst>
          </p:cNvPr>
          <p:cNvSpPr txBox="1"/>
          <p:nvPr/>
        </p:nvSpPr>
        <p:spPr>
          <a:xfrm>
            <a:off x="1114541" y="2892263"/>
            <a:ext cx="9962984" cy="2040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/>
              <a:t>AI</a:t>
            </a:r>
            <a:r>
              <a:rPr lang="ko-KR" altLang="en-US" sz="2800" dirty="0"/>
              <a:t>에게 프로젝트 생성을 요청할 때</a:t>
            </a:r>
            <a:r>
              <a:rPr lang="en-US" altLang="ko-KR" sz="2800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3200" b="1" dirty="0"/>
              <a:t>'</a:t>
            </a:r>
            <a:r>
              <a:rPr lang="ko-KR" altLang="en-US" sz="3200" b="1" dirty="0" err="1"/>
              <a:t>프론트엔드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/ </a:t>
            </a:r>
            <a:r>
              <a:rPr lang="ko-KR" altLang="en-US" sz="3200" b="1" dirty="0" err="1"/>
              <a:t>백엔드</a:t>
            </a:r>
            <a:r>
              <a:rPr lang="ko-KR" altLang="en-US" sz="3200" b="1" dirty="0"/>
              <a:t> 폴더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디렉토리</a:t>
            </a:r>
            <a:r>
              <a:rPr lang="en-US" altLang="ko-KR" sz="3200" b="1" dirty="0"/>
              <a:t>) </a:t>
            </a:r>
            <a:r>
              <a:rPr lang="ko-KR" altLang="en-US" sz="3200" b="1" dirty="0"/>
              <a:t>분리해 줘</a:t>
            </a:r>
            <a:r>
              <a:rPr lang="en-US" altLang="ko-KR" sz="3200" b="1" dirty="0"/>
              <a:t>'</a:t>
            </a:r>
            <a:r>
              <a:rPr lang="ko-KR" altLang="en-US" sz="3200" dirty="0"/>
              <a:t>라고 </a:t>
            </a:r>
            <a:endParaRPr lang="en-US" altLang="ko-KR" sz="3200" dirty="0"/>
          </a:p>
          <a:p>
            <a:pPr algn="ctr">
              <a:lnSpc>
                <a:spcPct val="150000"/>
              </a:lnSpc>
            </a:pPr>
            <a:r>
              <a:rPr lang="ko-KR" altLang="en-US" sz="2800" dirty="0"/>
              <a:t>지시하여 폴더 구조를 분리하면 관리가 훨씬 수월합니다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D35D2F-BB63-D902-DCB1-CFF326CC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278" y="1302114"/>
            <a:ext cx="1329443" cy="132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48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0713-FF7B-3A2F-30A9-FD82CE1D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9F23D8-751E-4F9E-3C99-CA8C6C9C8DA8}"/>
              </a:ext>
            </a:extLst>
          </p:cNvPr>
          <p:cNvSpPr txBox="1"/>
          <p:nvPr/>
        </p:nvSpPr>
        <p:spPr>
          <a:xfrm>
            <a:off x="122274" y="122273"/>
            <a:ext cx="3185487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코드베이스 디렉토리 구조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B24852-A3C9-A17F-A6C5-4C6945EF1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0187"/>
            <a:ext cx="12192000" cy="5297626"/>
          </a:xfrm>
          <a:prstGeom prst="rect">
            <a:avLst/>
          </a:prstGeom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B60127DF-94C8-ECCA-7A49-9A497476E2D8}"/>
              </a:ext>
            </a:extLst>
          </p:cNvPr>
          <p:cNvSpPr/>
          <p:nvPr/>
        </p:nvSpPr>
        <p:spPr>
          <a:xfrm>
            <a:off x="1209964" y="1870363"/>
            <a:ext cx="369454" cy="19396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왼쪽 8">
            <a:extLst>
              <a:ext uri="{FF2B5EF4-FFF2-40B4-BE49-F238E27FC236}">
                <a16:creationId xmlns:a16="http://schemas.microsoft.com/office/drawing/2014/main" id="{99452198-BCD3-92A7-8F73-AD8B89CEF91F}"/>
              </a:ext>
            </a:extLst>
          </p:cNvPr>
          <p:cNvSpPr/>
          <p:nvPr/>
        </p:nvSpPr>
        <p:spPr>
          <a:xfrm>
            <a:off x="1209964" y="3094464"/>
            <a:ext cx="369454" cy="193963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60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3D82-AE80-6B7D-9122-3945849E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5DDF6-889A-8FB5-E28C-457A1AFAC0B1}"/>
              </a:ext>
            </a:extLst>
          </p:cNvPr>
          <p:cNvSpPr txBox="1"/>
          <p:nvPr/>
        </p:nvSpPr>
        <p:spPr>
          <a:xfrm>
            <a:off x="122274" y="122273"/>
            <a:ext cx="2706190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>
                <a:solidFill>
                  <a:schemeClr val="accent5"/>
                </a:solidFill>
              </a:rPr>
              <a:t>프론트엔드</a:t>
            </a:r>
            <a:r>
              <a:rPr lang="ko-KR" altLang="en-US" sz="2000" b="1"/>
              <a:t> </a:t>
            </a:r>
            <a:r>
              <a:rPr lang="en-US" altLang="ko-KR" sz="2000" b="1"/>
              <a:t>-&gt; </a:t>
            </a:r>
            <a:r>
              <a:rPr lang="ko-KR" altLang="en-US" sz="2000" b="1"/>
              <a:t>백엔드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CBD52-83F6-200A-BFDD-B94416F6BEA5}"/>
              </a:ext>
            </a:extLst>
          </p:cNvPr>
          <p:cNvSpPr txBox="1"/>
          <p:nvPr/>
        </p:nvSpPr>
        <p:spPr>
          <a:xfrm>
            <a:off x="1698963" y="1017281"/>
            <a:ext cx="798007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/>
              <a:t>핵심</a:t>
            </a:r>
            <a:r>
              <a:rPr lang="en-US" altLang="ko-KR" sz="2000"/>
              <a:t>!! </a:t>
            </a:r>
            <a:r>
              <a:rPr lang="ko-KR" altLang="en-US" sz="2000"/>
              <a:t>사용자가 채팅에 입력한 내용을 백엔드로 전송하는 코드</a:t>
            </a:r>
            <a:r>
              <a:rPr lang="en-US" altLang="ko-KR" sz="200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AI </a:t>
            </a:r>
            <a:r>
              <a:rPr lang="ko-KR" altLang="en-US" sz="2000"/>
              <a:t>에게 코딩을 지시할 때 알려줄 정보가 무엇인가</a:t>
            </a:r>
            <a:r>
              <a:rPr lang="en-US" altLang="ko-KR" sz="200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const res = await fetch(＇</a:t>
            </a:r>
            <a:r>
              <a:rPr lang="ko-KR" altLang="en-US" sz="2000" b="1"/>
              <a:t>백엔드 요청 주소</a:t>
            </a:r>
            <a:r>
              <a:rPr lang="en-US" altLang="ko-KR" sz="2000" b="1"/>
              <a:t>(endpoint) </a:t>
            </a:r>
            <a:r>
              <a:rPr lang="en-US" altLang="ko-KR" sz="2000"/>
              <a:t>', {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method: 'POST',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headers: { 'Content-Type': 'application/json' },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body: JSON.stringify({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  prompt,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  save_to_firestore: saveToFirestoreInput.checked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  })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/>
              <a:t>          });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2F63B7-1103-D926-4AB8-B355B369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169" y="4073256"/>
            <a:ext cx="5013738" cy="253998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7471056-21AD-90D7-2F9B-BF24D46E6E12}"/>
              </a:ext>
            </a:extLst>
          </p:cNvPr>
          <p:cNvSpPr/>
          <p:nvPr/>
        </p:nvSpPr>
        <p:spPr>
          <a:xfrm>
            <a:off x="8977745" y="4322618"/>
            <a:ext cx="1043710" cy="10252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89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0938-3844-21E1-3224-56AF5696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B988E-960E-E2F9-EB9A-715BCA727669}"/>
              </a:ext>
            </a:extLst>
          </p:cNvPr>
          <p:cNvSpPr txBox="1"/>
          <p:nvPr/>
        </p:nvSpPr>
        <p:spPr>
          <a:xfrm>
            <a:off x="122274" y="122273"/>
            <a:ext cx="2706190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 err="1"/>
              <a:t>프론트엔드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 </a:t>
            </a:r>
            <a:r>
              <a:rPr lang="ko-KR" altLang="en-US" sz="2000" b="1" dirty="0" err="1">
                <a:solidFill>
                  <a:schemeClr val="accent5"/>
                </a:solidFill>
              </a:rPr>
              <a:t>백엔드</a:t>
            </a:r>
            <a:endParaRPr lang="ko-KR" altLang="en-US" sz="2000" b="1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EB5C1-9C4C-ED9C-8F6C-406CE537D3C2}"/>
              </a:ext>
            </a:extLst>
          </p:cNvPr>
          <p:cNvSpPr txBox="1"/>
          <p:nvPr/>
        </p:nvSpPr>
        <p:spPr>
          <a:xfrm>
            <a:off x="1698963" y="989572"/>
            <a:ext cx="7615033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/>
              <a:t>핵심</a:t>
            </a:r>
            <a:r>
              <a:rPr lang="en-US" altLang="ko-KR" sz="2000" dirty="0"/>
              <a:t>!! </a:t>
            </a:r>
            <a:r>
              <a:rPr lang="ko-KR" altLang="en-US" sz="2000" dirty="0"/>
              <a:t>프론트에서 전송한 내용을 받아 처리하는 코드</a:t>
            </a:r>
            <a:r>
              <a:rPr lang="en-US" altLang="ko-KR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AI </a:t>
            </a:r>
            <a:r>
              <a:rPr lang="ko-KR" altLang="en-US" sz="2000" dirty="0"/>
              <a:t>에게 코딩을 지시할 때 알려줄 정보가 무엇인가</a:t>
            </a:r>
            <a:r>
              <a:rPr lang="en-US" altLang="ko-KR" sz="20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@app.post("</a:t>
            </a:r>
            <a:r>
              <a:rPr lang="en-US" altLang="ko-KR" sz="2000" dirty="0">
                <a:solidFill>
                  <a:srgbClr val="FF0000"/>
                </a:solidFill>
              </a:rPr>
              <a:t>/api/chat</a:t>
            </a:r>
            <a:r>
              <a:rPr lang="en-US" altLang="ko-KR" sz="2000" dirty="0"/>
              <a:t>", </a:t>
            </a:r>
            <a:r>
              <a:rPr lang="en-US" altLang="ko-KR" sz="2000" dirty="0" err="1"/>
              <a:t>response_model</a:t>
            </a:r>
            <a:r>
              <a:rPr lang="en-US" altLang="ko-KR" sz="2000" dirty="0"/>
              <a:t>=ChatResponse)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ko-KR" altLang="en-US" sz="2000" dirty="0"/>
              <a:t>요청을 받을 주소</a:t>
            </a:r>
            <a:r>
              <a:rPr lang="en-US" altLang="ko-KR" sz="2000" dirty="0"/>
              <a:t>(endpoint)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async def chat(request: </a:t>
            </a:r>
            <a:r>
              <a:rPr lang="en-US" altLang="ko-KR" sz="2000" dirty="0" err="1"/>
              <a:t>ChatRequest</a:t>
            </a:r>
            <a:r>
              <a:rPr lang="en-US" altLang="ko-KR" sz="2000" dirty="0"/>
              <a:t>) -&gt; ChatResponse: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logger.info(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"Chat request received",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extra={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"</a:t>
            </a:r>
            <a:r>
              <a:rPr lang="en-US" altLang="ko-KR" sz="2000" dirty="0" err="1"/>
              <a:t>save_to_firestore</a:t>
            </a:r>
            <a:r>
              <a:rPr lang="en-US" altLang="ko-KR" sz="2000" dirty="0"/>
              <a:t>": </a:t>
            </a:r>
            <a:r>
              <a:rPr lang="en-US" altLang="ko-KR" sz="2000" dirty="0" err="1"/>
              <a:t>request.save_to_firestore</a:t>
            </a:r>
            <a:r>
              <a:rPr lang="en-US" altLang="ko-KR" sz="2000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"</a:t>
            </a:r>
            <a:r>
              <a:rPr lang="en-US" altLang="ko-KR" sz="2000" dirty="0" err="1"/>
              <a:t>user_id</a:t>
            </a:r>
            <a:r>
              <a:rPr lang="en-US" altLang="ko-KR" sz="2000" dirty="0"/>
              <a:t>": </a:t>
            </a:r>
            <a:r>
              <a:rPr lang="en-US" altLang="ko-KR" sz="2000" dirty="0" err="1"/>
              <a:t>request.user_id</a:t>
            </a:r>
            <a:r>
              <a:rPr lang="en-US" altLang="ko-KR" sz="2000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"</a:t>
            </a:r>
            <a:r>
              <a:rPr lang="en-US" altLang="ko-KR" sz="2000" dirty="0" err="1"/>
              <a:t>conversation_size</a:t>
            </a:r>
            <a:r>
              <a:rPr lang="en-US" altLang="ko-KR" sz="2000" dirty="0"/>
              <a:t>": </a:t>
            </a:r>
            <a:r>
              <a:rPr lang="en-US" altLang="ko-KR" sz="2000" dirty="0" err="1"/>
              <a:t>len</a:t>
            </a:r>
            <a:r>
              <a:rPr lang="en-US" altLang="ko-KR" sz="2000" dirty="0"/>
              <a:t>(</a:t>
            </a:r>
            <a:r>
              <a:rPr lang="en-US" altLang="ko-KR" sz="2000" dirty="0" err="1"/>
              <a:t>request.conversation</a:t>
            </a:r>
            <a:r>
              <a:rPr lang="en-US" altLang="ko-KR" sz="2000" dirty="0"/>
              <a:t> or []),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"</a:t>
            </a:r>
            <a:r>
              <a:rPr lang="en-US" altLang="ko-KR" sz="2000" dirty="0" err="1"/>
              <a:t>prompt_length</a:t>
            </a:r>
            <a:r>
              <a:rPr lang="en-US" altLang="ko-KR" sz="2000" dirty="0"/>
              <a:t>": </a:t>
            </a:r>
            <a:r>
              <a:rPr lang="en-US" altLang="ko-KR" sz="2000" dirty="0" err="1"/>
              <a:t>len</a:t>
            </a:r>
            <a:r>
              <a:rPr lang="en-US" altLang="ko-KR" sz="2000" dirty="0"/>
              <a:t>(</a:t>
            </a:r>
            <a:r>
              <a:rPr lang="en-US" altLang="ko-KR" sz="2000" dirty="0" err="1"/>
              <a:t>request.prompt</a:t>
            </a:r>
            <a:r>
              <a:rPr lang="en-US" altLang="ko-KR" sz="2000" dirty="0"/>
              <a:t>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},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74624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46E26-9D5E-465B-24B6-B7E9F3F7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E73FD-600E-5A20-B09D-CDDC3C72BC4D}"/>
              </a:ext>
            </a:extLst>
          </p:cNvPr>
          <p:cNvSpPr txBox="1"/>
          <p:nvPr/>
        </p:nvSpPr>
        <p:spPr>
          <a:xfrm>
            <a:off x="122274" y="122273"/>
            <a:ext cx="1685077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 err="1">
                <a:solidFill>
                  <a:schemeClr val="accent5"/>
                </a:solidFill>
              </a:rPr>
              <a:t>백엔드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 AI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CE12F-FB45-A8E3-B850-6DB4F728D0FE}"/>
              </a:ext>
            </a:extLst>
          </p:cNvPr>
          <p:cNvSpPr txBox="1"/>
          <p:nvPr/>
        </p:nvSpPr>
        <p:spPr>
          <a:xfrm>
            <a:off x="1698963" y="989572"/>
            <a:ext cx="862210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/>
              <a:t>핵심</a:t>
            </a:r>
            <a:r>
              <a:rPr lang="en-US" altLang="ko-KR" sz="2000" dirty="0"/>
              <a:t>!! </a:t>
            </a:r>
            <a:r>
              <a:rPr lang="ko-KR" altLang="en-US" sz="2000" dirty="0" err="1"/>
              <a:t>백엔드에서</a:t>
            </a:r>
            <a:r>
              <a:rPr lang="ko-KR" altLang="en-US" sz="2000" dirty="0"/>
              <a:t> </a:t>
            </a:r>
            <a:r>
              <a:rPr lang="en-US" altLang="ko-KR" sz="2000" dirty="0"/>
              <a:t>AI </a:t>
            </a:r>
            <a:r>
              <a:rPr lang="ko-KR" altLang="en-US" sz="2000" dirty="0"/>
              <a:t>모델에게 요청하고 응답을 받는 코드</a:t>
            </a:r>
            <a:r>
              <a:rPr lang="en-US" altLang="ko-KR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AI </a:t>
            </a:r>
            <a:r>
              <a:rPr lang="ko-KR" altLang="en-US" sz="2000" dirty="0"/>
              <a:t>에게 코딩을 지시할 때 알려줄 정보가 무엇인가</a:t>
            </a:r>
            <a:r>
              <a:rPr lang="en-US" altLang="ko-KR" sz="20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async with </a:t>
            </a:r>
            <a:r>
              <a:rPr lang="en-US" altLang="ko-KR" sz="2000" dirty="0" err="1"/>
              <a:t>httpx.AsyncClient</a:t>
            </a:r>
            <a:r>
              <a:rPr lang="en-US" altLang="ko-KR" sz="2000" dirty="0"/>
              <a:t>(timeout=30.0) as client: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response = await </a:t>
            </a:r>
            <a:r>
              <a:rPr lang="en-US" altLang="ko-KR" sz="2000" dirty="0" err="1"/>
              <a:t>client.post</a:t>
            </a:r>
            <a:r>
              <a:rPr lang="en-US" altLang="ko-KR" sz="2000" dirty="0"/>
              <a:t>(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</a:t>
            </a:r>
            <a:r>
              <a:rPr lang="en-US" altLang="ko-KR" sz="2000" dirty="0" err="1"/>
              <a:t>settings.</a:t>
            </a:r>
            <a:r>
              <a:rPr lang="en-US" altLang="ko-KR" sz="2000" dirty="0" err="1">
                <a:solidFill>
                  <a:srgbClr val="FF0000"/>
                </a:solidFill>
              </a:rPr>
              <a:t>codyssey_api_url</a:t>
            </a:r>
            <a:r>
              <a:rPr lang="en-US" altLang="ko-KR" sz="2000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headers={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    "Authorization": </a:t>
            </a:r>
            <a:r>
              <a:rPr lang="en-US" altLang="ko-KR" sz="2000" dirty="0" err="1"/>
              <a:t>f"Bearer</a:t>
            </a:r>
            <a:r>
              <a:rPr lang="en-US" altLang="ko-KR" sz="2000" dirty="0"/>
              <a:t> {</a:t>
            </a:r>
            <a:r>
              <a:rPr lang="en-US" altLang="ko-KR" sz="2000" dirty="0" err="1"/>
              <a:t>settings.</a:t>
            </a:r>
            <a:r>
              <a:rPr lang="en-US" altLang="ko-KR" sz="2000" dirty="0" err="1">
                <a:solidFill>
                  <a:srgbClr val="FF0000"/>
                </a:solidFill>
              </a:rPr>
              <a:t>codyssey_api_key</a:t>
            </a:r>
            <a:r>
              <a:rPr lang="en-US" altLang="ko-KR" sz="2000" dirty="0"/>
              <a:t>}",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    "Content-Type": "application/</a:t>
            </a:r>
            <a:r>
              <a:rPr lang="en-US" altLang="ko-KR" sz="2000" dirty="0" err="1"/>
              <a:t>json</a:t>
            </a:r>
            <a:r>
              <a:rPr lang="en-US" altLang="ko-KR" sz="2000" dirty="0"/>
              <a:t>",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},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    </a:t>
            </a:r>
            <a:r>
              <a:rPr lang="en-US" altLang="ko-KR" sz="2000" dirty="0" err="1"/>
              <a:t>json</a:t>
            </a:r>
            <a:r>
              <a:rPr lang="en-US" altLang="ko-KR" sz="2000" dirty="0"/>
              <a:t>=payload,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response.raise_for_status</a:t>
            </a:r>
            <a:r>
              <a:rPr lang="en-US" altLang="ko-KR" sz="2000" dirty="0"/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    data = </a:t>
            </a:r>
            <a:r>
              <a:rPr lang="en-US" altLang="ko-KR" sz="2000" dirty="0" err="1"/>
              <a:t>response.json</a:t>
            </a:r>
            <a:r>
              <a:rPr lang="en-US" altLang="ko-KR" sz="2000" dirty="0"/>
              <a:t>()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658588-744D-4ADD-571B-B048921D1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37" y="3916217"/>
            <a:ext cx="4925251" cy="259831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B5B15352-40BE-495E-D718-7B7C815B3170}"/>
              </a:ext>
            </a:extLst>
          </p:cNvPr>
          <p:cNvSpPr/>
          <p:nvPr/>
        </p:nvSpPr>
        <p:spPr>
          <a:xfrm>
            <a:off x="8746836" y="4702755"/>
            <a:ext cx="1403928" cy="150408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9A89-ABAF-6E2A-0532-EF986CDA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8598B-33D8-7C12-4A5F-DE5194A258D6}"/>
              </a:ext>
            </a:extLst>
          </p:cNvPr>
          <p:cNvSpPr txBox="1"/>
          <p:nvPr/>
        </p:nvSpPr>
        <p:spPr>
          <a:xfrm>
            <a:off x="122274" y="122273"/>
            <a:ext cx="248446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 err="1">
                <a:solidFill>
                  <a:schemeClr val="accent5"/>
                </a:solidFill>
              </a:rPr>
              <a:t>백엔드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-&gt; </a:t>
            </a:r>
            <a:r>
              <a:rPr lang="en-US" altLang="ko-KR" sz="2000" b="1" dirty="0" err="1"/>
              <a:t>Firestore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E8EC-5C7E-92F3-B0EF-9F474C1B6C37}"/>
              </a:ext>
            </a:extLst>
          </p:cNvPr>
          <p:cNvSpPr txBox="1"/>
          <p:nvPr/>
        </p:nvSpPr>
        <p:spPr>
          <a:xfrm>
            <a:off x="414946" y="1228397"/>
            <a:ext cx="988343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/>
              <a:t>핵심</a:t>
            </a:r>
            <a:r>
              <a:rPr lang="en-US" altLang="ko-KR" sz="2000" dirty="0"/>
              <a:t>!! </a:t>
            </a:r>
            <a:r>
              <a:rPr lang="ko-KR" altLang="en-US" sz="2000" dirty="0" err="1"/>
              <a:t>백엔드에서</a:t>
            </a:r>
            <a:r>
              <a:rPr lang="ko-KR" altLang="en-US" sz="2000" dirty="0"/>
              <a:t> </a:t>
            </a:r>
            <a:r>
              <a:rPr lang="en-US" altLang="ko-KR" sz="2000" dirty="0"/>
              <a:t>DB(</a:t>
            </a:r>
            <a:r>
              <a:rPr lang="en-US" altLang="ko-KR" sz="2000" dirty="0" err="1"/>
              <a:t>firestore</a:t>
            </a:r>
            <a:r>
              <a:rPr lang="en-US" altLang="ko-KR" sz="2000" dirty="0"/>
              <a:t>)</a:t>
            </a:r>
            <a:r>
              <a:rPr lang="ko-KR" altLang="en-US" sz="2000" dirty="0"/>
              <a:t> 요청하고 응답을 받는 코드</a:t>
            </a:r>
            <a:r>
              <a:rPr lang="en-US" altLang="ko-KR" sz="20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AI </a:t>
            </a:r>
            <a:r>
              <a:rPr lang="ko-KR" altLang="en-US" sz="2000" dirty="0"/>
              <a:t>에게 코딩을 지시할 때 알려줄 정보가 무엇인가</a:t>
            </a:r>
            <a:r>
              <a:rPr lang="en-US" altLang="ko-KR" sz="20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 err="1"/>
              <a:t>project_id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os.getenv</a:t>
            </a:r>
            <a:r>
              <a:rPr lang="en-US" altLang="ko-KR" sz="2000" dirty="0"/>
              <a:t>("</a:t>
            </a:r>
            <a:r>
              <a:rPr lang="en-US" altLang="ko-KR" sz="2000" dirty="0">
                <a:solidFill>
                  <a:srgbClr val="FF0000"/>
                </a:solidFill>
              </a:rPr>
              <a:t>FIREBASE_PROJECT_ID</a:t>
            </a:r>
            <a:r>
              <a:rPr lang="en-US" altLang="ko-KR" sz="2000" dirty="0"/>
              <a:t>") or </a:t>
            </a:r>
            <a:r>
              <a:rPr lang="en-US" altLang="ko-KR" sz="2000" dirty="0" err="1"/>
              <a:t>os.getenv</a:t>
            </a:r>
            <a:r>
              <a:rPr lang="en-US" altLang="ko-KR" sz="2000" dirty="0"/>
              <a:t>("</a:t>
            </a:r>
            <a:r>
              <a:rPr lang="en-US" altLang="ko-KR" sz="2000" dirty="0">
                <a:solidFill>
                  <a:srgbClr val="FF0000"/>
                </a:solidFill>
              </a:rPr>
              <a:t>GOOGLE_CLOUD_PROJECT</a:t>
            </a:r>
            <a:r>
              <a:rPr lang="en-US" altLang="ko-KR" sz="2000" dirty="0"/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 err="1"/>
              <a:t>creds_path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os.getenv</a:t>
            </a:r>
            <a:r>
              <a:rPr lang="en-US" altLang="ko-KR" sz="2000" dirty="0"/>
              <a:t>("</a:t>
            </a:r>
            <a:r>
              <a:rPr lang="en-US" altLang="ko-KR" sz="2000" dirty="0">
                <a:solidFill>
                  <a:srgbClr val="FF0000"/>
                </a:solidFill>
              </a:rPr>
              <a:t>FIREBASE_CREDENTIALS_FILE</a:t>
            </a:r>
            <a:r>
              <a:rPr lang="en-US" altLang="ko-KR" sz="2000" dirty="0"/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try: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</a:t>
            </a:r>
            <a:r>
              <a:rPr lang="en-US" altLang="ko-KR" sz="2000" dirty="0" err="1">
                <a:solidFill>
                  <a:srgbClr val="FF0000"/>
                </a:solidFill>
              </a:rPr>
              <a:t>db.collection</a:t>
            </a:r>
            <a:r>
              <a:rPr lang="en-US" altLang="ko-KR" sz="2000" dirty="0"/>
              <a:t>("</a:t>
            </a:r>
            <a:r>
              <a:rPr lang="en-US" altLang="ko-KR" sz="2000" dirty="0" err="1"/>
              <a:t>chat_sessions</a:t>
            </a:r>
            <a:r>
              <a:rPr lang="en-US" altLang="ko-KR" sz="2000" dirty="0"/>
              <a:t>").document(</a:t>
            </a:r>
            <a:r>
              <a:rPr lang="en-US" altLang="ko-KR" sz="2000" dirty="0" err="1"/>
              <a:t>session_id</a:t>
            </a:r>
            <a:r>
              <a:rPr lang="en-US" altLang="ko-KR" sz="2000" dirty="0"/>
              <a:t>).set(</a:t>
            </a:r>
            <a:r>
              <a:rPr lang="en-US" altLang="ko-KR" sz="2000" dirty="0">
                <a:solidFill>
                  <a:srgbClr val="FF0000"/>
                </a:solidFill>
              </a:rPr>
              <a:t>doc</a:t>
            </a:r>
            <a:r>
              <a:rPr lang="en-US" altLang="ko-KR" sz="20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	   return </a:t>
            </a:r>
            <a:r>
              <a:rPr lang="en-US" altLang="ko-KR" sz="2000" dirty="0" err="1"/>
              <a:t>session_id</a:t>
            </a:r>
            <a:endParaRPr lang="en-US" altLang="ko-K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except Exception: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</a:t>
            </a:r>
            <a:r>
              <a:rPr lang="en-US" altLang="ko-KR" sz="2000" dirty="0" err="1"/>
              <a:t>logger.exception</a:t>
            </a:r>
            <a:r>
              <a:rPr lang="en-US" altLang="ko-KR" sz="2000" dirty="0"/>
              <a:t>("Failed to save chat session to </a:t>
            </a:r>
            <a:r>
              <a:rPr lang="en-US" altLang="ko-KR" sz="2000" dirty="0" err="1"/>
              <a:t>Firestore</a:t>
            </a:r>
            <a:r>
              <a:rPr lang="en-US" altLang="ko-KR" sz="2000" dirty="0"/>
              <a:t>", extra={"</a:t>
            </a:r>
            <a:r>
              <a:rPr lang="en-US" altLang="ko-KR" sz="2000" dirty="0" err="1"/>
              <a:t>session_id</a:t>
            </a:r>
            <a:r>
              <a:rPr lang="en-US" altLang="ko-KR" sz="2000" dirty="0"/>
              <a:t>": </a:t>
            </a:r>
            <a:r>
              <a:rPr lang="en-US" altLang="ko-KR" sz="2000" dirty="0" err="1"/>
              <a:t>session_id</a:t>
            </a:r>
            <a:r>
              <a:rPr lang="en-US" altLang="ko-KR" sz="2000" dirty="0"/>
              <a:t>})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/>
              <a:t>        raise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52CB34-52DD-1A73-E6A0-C712E26EB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750" y="559060"/>
            <a:ext cx="4130975" cy="286994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D7D84BA-CAD1-B268-1D44-9D9166BF2D70}"/>
              </a:ext>
            </a:extLst>
          </p:cNvPr>
          <p:cNvSpPr/>
          <p:nvPr/>
        </p:nvSpPr>
        <p:spPr>
          <a:xfrm>
            <a:off x="9421091" y="853004"/>
            <a:ext cx="1131293" cy="118823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22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1C9497C-556D-2253-D516-013FEFCC8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4" y="623584"/>
            <a:ext cx="11966351" cy="5610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D5E43B-C32C-B864-40E8-000696290C3E}"/>
              </a:ext>
            </a:extLst>
          </p:cNvPr>
          <p:cNvSpPr txBox="1"/>
          <p:nvPr/>
        </p:nvSpPr>
        <p:spPr>
          <a:xfrm>
            <a:off x="122274" y="122273"/>
            <a:ext cx="267252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프로젝트 인프라 구성</a:t>
            </a:r>
          </a:p>
        </p:txBody>
      </p:sp>
    </p:spTree>
    <p:extLst>
      <p:ext uri="{BB962C8B-B14F-4D97-AF65-F5344CB8AC3E}">
        <p14:creationId xmlns:p14="http://schemas.microsoft.com/office/powerpoint/2010/main" val="323216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14D2-29A5-6183-E1F1-8B229F82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0FB1B8-CD6F-FABF-C616-1E000770AD90}"/>
              </a:ext>
            </a:extLst>
          </p:cNvPr>
          <p:cNvSpPr txBox="1"/>
          <p:nvPr/>
        </p:nvSpPr>
        <p:spPr>
          <a:xfrm>
            <a:off x="122274" y="122273"/>
            <a:ext cx="267252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사용되는 외부 서비스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56BCCC-7203-FF78-F5BA-9D332D858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36" y="1101687"/>
            <a:ext cx="3320127" cy="18644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0F1A9BE-74EE-2922-6641-7B022B19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17" b="29688"/>
          <a:stretch>
            <a:fillRect/>
          </a:stretch>
        </p:blipFill>
        <p:spPr>
          <a:xfrm>
            <a:off x="7034834" y="1313572"/>
            <a:ext cx="3832151" cy="14407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797E10-8FE6-0733-179B-8259D30058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96" t="15997" r="25781" b="41416"/>
          <a:stretch>
            <a:fillRect/>
          </a:stretch>
        </p:blipFill>
        <p:spPr>
          <a:xfrm>
            <a:off x="7231827" y="3940197"/>
            <a:ext cx="3438166" cy="1614147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5D06A45F-7DFD-6BE1-BD67-89FB0014293D}"/>
              </a:ext>
            </a:extLst>
          </p:cNvPr>
          <p:cNvGrpSpPr/>
          <p:nvPr/>
        </p:nvGrpSpPr>
        <p:grpSpPr>
          <a:xfrm>
            <a:off x="1745887" y="3769266"/>
            <a:ext cx="2097823" cy="1956008"/>
            <a:chOff x="1661333" y="3891831"/>
            <a:chExt cx="2097823" cy="195600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5E4673-D0BB-58EE-CF12-45DA9F4B8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1986" t="30685" r="8963" b="28896"/>
            <a:stretch>
              <a:fillRect/>
            </a:stretch>
          </p:blipFill>
          <p:spPr>
            <a:xfrm>
              <a:off x="1830441" y="5151208"/>
              <a:ext cx="1928715" cy="69663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79778F2-18B0-209D-4FCE-DB28DA787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1333" y="3891831"/>
              <a:ext cx="2097823" cy="1450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818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6F2E-E2D8-BD1B-8DEF-4DD797D1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7677C3-2433-A728-CDE8-6FE0C2F817B4}"/>
              </a:ext>
            </a:extLst>
          </p:cNvPr>
          <p:cNvSpPr txBox="1"/>
          <p:nvPr/>
        </p:nvSpPr>
        <p:spPr>
          <a:xfrm>
            <a:off x="122274" y="122273"/>
            <a:ext cx="190308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권장 설정 순서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7D914C-0786-0D2E-4910-A541EC2D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721" y="2564946"/>
            <a:ext cx="3077280" cy="17281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C5A37F-28CF-B114-685C-0B308651E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17" b="29688"/>
          <a:stretch>
            <a:fillRect/>
          </a:stretch>
        </p:blipFill>
        <p:spPr>
          <a:xfrm>
            <a:off x="3927923" y="2804893"/>
            <a:ext cx="3320128" cy="12482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8C955FD-EDDC-6D3D-AACB-94DB1F248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96" t="15997" r="25781" b="41416"/>
          <a:stretch>
            <a:fillRect/>
          </a:stretch>
        </p:blipFill>
        <p:spPr>
          <a:xfrm>
            <a:off x="391450" y="2019898"/>
            <a:ext cx="2232006" cy="1047880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3CE2169-FDD1-9C52-2EBB-61CEC6F0030D}"/>
              </a:ext>
            </a:extLst>
          </p:cNvPr>
          <p:cNvSpPr/>
          <p:nvPr/>
        </p:nvSpPr>
        <p:spPr>
          <a:xfrm>
            <a:off x="3199829" y="3149891"/>
            <a:ext cx="528296" cy="5582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8B5B5A93-67F1-93CD-4E2A-BD8AFC883B03}"/>
              </a:ext>
            </a:extLst>
          </p:cNvPr>
          <p:cNvSpPr/>
          <p:nvPr/>
        </p:nvSpPr>
        <p:spPr>
          <a:xfrm>
            <a:off x="7447849" y="3149891"/>
            <a:ext cx="528296" cy="5582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F83B73C-F5F1-0B1C-2308-EE8B858BBFA8}"/>
              </a:ext>
            </a:extLst>
          </p:cNvPr>
          <p:cNvGrpSpPr/>
          <p:nvPr/>
        </p:nvGrpSpPr>
        <p:grpSpPr>
          <a:xfrm>
            <a:off x="687161" y="3528214"/>
            <a:ext cx="1640583" cy="1529678"/>
            <a:chOff x="1661333" y="3891831"/>
            <a:chExt cx="2097823" cy="195600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E912D1A-A889-B0A0-218B-0533C19A0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1986" t="30685" r="8963" b="28896"/>
            <a:stretch>
              <a:fillRect/>
            </a:stretch>
          </p:blipFill>
          <p:spPr>
            <a:xfrm>
              <a:off x="1830441" y="5151208"/>
              <a:ext cx="1928715" cy="69663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5527F8C-98C7-5373-2FD5-21CDA428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1333" y="3891831"/>
              <a:ext cx="2097823" cy="1450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025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44A5-82B9-B081-9A0C-0FD7D05E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95F43-918D-A99A-2EBC-95A9F8E68466}"/>
              </a:ext>
            </a:extLst>
          </p:cNvPr>
          <p:cNvSpPr txBox="1"/>
          <p:nvPr/>
        </p:nvSpPr>
        <p:spPr>
          <a:xfrm>
            <a:off x="122274" y="122273"/>
            <a:ext cx="185980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1. Gemini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BEDFC-8317-620D-F099-81E1DCD4B189}"/>
              </a:ext>
            </a:extLst>
          </p:cNvPr>
          <p:cNvSpPr txBox="1"/>
          <p:nvPr/>
        </p:nvSpPr>
        <p:spPr>
          <a:xfrm>
            <a:off x="2604499" y="3061079"/>
            <a:ext cx="6983002" cy="735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/>
              <a:t>활용 단계 </a:t>
            </a:r>
            <a:r>
              <a:rPr lang="en-US" altLang="ko-KR" sz="3200" b="1" dirty="0"/>
              <a:t>A1-2, A1-3 </a:t>
            </a:r>
            <a:r>
              <a:rPr lang="ko-KR" altLang="en-US" sz="3200" b="1" dirty="0"/>
              <a:t>과제에서 사용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4077789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7C8D-D287-6B79-4B34-0F164902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8398D4-C175-4EDA-3E3C-AE02210D915D}"/>
              </a:ext>
            </a:extLst>
          </p:cNvPr>
          <p:cNvSpPr txBox="1"/>
          <p:nvPr/>
        </p:nvSpPr>
        <p:spPr>
          <a:xfrm>
            <a:off x="122274" y="122273"/>
            <a:ext cx="185980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1. Gemini API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B39008-E231-C200-5A2C-9CF8A4E9D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28" y="1611825"/>
            <a:ext cx="11357344" cy="36343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793A621-608A-2F7C-4A5E-D164273D2951}"/>
              </a:ext>
            </a:extLst>
          </p:cNvPr>
          <p:cNvSpPr/>
          <p:nvPr/>
        </p:nvSpPr>
        <p:spPr>
          <a:xfrm>
            <a:off x="10457120" y="1839433"/>
            <a:ext cx="1238694" cy="462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3911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3ED4-B230-B4CF-4CC6-FA80296F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CFAC65-A592-2D62-7389-EFDFAB6EBCB8}"/>
              </a:ext>
            </a:extLst>
          </p:cNvPr>
          <p:cNvSpPr txBox="1"/>
          <p:nvPr/>
        </p:nvSpPr>
        <p:spPr>
          <a:xfrm>
            <a:off x="122274" y="122273"/>
            <a:ext cx="185980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1. Gemini API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68D6E3-D0C1-B407-B00A-F0F562F1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177" y="1060554"/>
            <a:ext cx="5657646" cy="473689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9C0623F-3CE8-50D7-30CF-1B9FAB372F73}"/>
              </a:ext>
            </a:extLst>
          </p:cNvPr>
          <p:cNvSpPr/>
          <p:nvPr/>
        </p:nvSpPr>
        <p:spPr>
          <a:xfrm>
            <a:off x="3545957" y="2254102"/>
            <a:ext cx="5213495" cy="462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5DC561-7A62-4C21-160C-78BD0F8ADD47}"/>
              </a:ext>
            </a:extLst>
          </p:cNvPr>
          <p:cNvSpPr/>
          <p:nvPr/>
        </p:nvSpPr>
        <p:spPr>
          <a:xfrm>
            <a:off x="8389087" y="3075512"/>
            <a:ext cx="370365" cy="462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285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C943-007A-10B7-9D9F-29D239F5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19A52A-DE7D-5A43-0025-4584C6113C4B}"/>
              </a:ext>
            </a:extLst>
          </p:cNvPr>
          <p:cNvSpPr txBox="1"/>
          <p:nvPr/>
        </p:nvSpPr>
        <p:spPr>
          <a:xfrm>
            <a:off x="122274" y="122273"/>
            <a:ext cx="185980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1. Gemini API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A35802F-35FD-F70D-05DB-9FFCF9BD5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952" y="792454"/>
            <a:ext cx="5406096" cy="527309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B013962-AE26-98F3-E140-6052C7983F18}"/>
              </a:ext>
            </a:extLst>
          </p:cNvPr>
          <p:cNvSpPr/>
          <p:nvPr/>
        </p:nvSpPr>
        <p:spPr>
          <a:xfrm>
            <a:off x="3498111" y="2477385"/>
            <a:ext cx="5098312" cy="660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3674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AF646-DFF7-9CE3-B811-7FA6D49F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A36462-0531-00BF-2AD2-CD8D3C7DB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7" y="1552561"/>
            <a:ext cx="10382326" cy="3752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343D41-6D70-B1CC-EC27-9C4E5B503F24}"/>
              </a:ext>
            </a:extLst>
          </p:cNvPr>
          <p:cNvSpPr txBox="1"/>
          <p:nvPr/>
        </p:nvSpPr>
        <p:spPr>
          <a:xfrm>
            <a:off x="122274" y="122273"/>
            <a:ext cx="185980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1. Gemini API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62E477-CB00-BFC0-C677-08C8A28ABC58}"/>
              </a:ext>
            </a:extLst>
          </p:cNvPr>
          <p:cNvSpPr/>
          <p:nvPr/>
        </p:nvSpPr>
        <p:spPr>
          <a:xfrm>
            <a:off x="9622465" y="3306726"/>
            <a:ext cx="435935" cy="19032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5877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F324-8D0F-A96E-5ADA-2E66F7B9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7A3D93-9C7A-F0B7-0E49-C41F024FA32E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1E55B38-B19E-9FB2-7FDC-448F6297F3EB}"/>
              </a:ext>
            </a:extLst>
          </p:cNvPr>
          <p:cNvGrpSpPr/>
          <p:nvPr/>
        </p:nvGrpSpPr>
        <p:grpSpPr>
          <a:xfrm>
            <a:off x="995723" y="2684721"/>
            <a:ext cx="10200554" cy="1488558"/>
            <a:chOff x="1616149" y="2392326"/>
            <a:chExt cx="10200554" cy="14885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BA0AFC-26F3-FEED-B45A-1427D6FC4190}"/>
                </a:ext>
              </a:extLst>
            </p:cNvPr>
            <p:cNvSpPr txBox="1"/>
            <p:nvPr/>
          </p:nvSpPr>
          <p:spPr>
            <a:xfrm>
              <a:off x="2703310" y="2768684"/>
              <a:ext cx="9113393" cy="73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3200" b="1" dirty="0"/>
                <a:t>에서 제공하는 </a:t>
              </a:r>
              <a:r>
                <a:rPr lang="ko-KR" altLang="en-US" sz="3200" b="1"/>
                <a:t>데이터를 저장해 보관하는 </a:t>
              </a:r>
              <a:r>
                <a:rPr lang="ko-KR" altLang="en-US" sz="3200" b="1" dirty="0"/>
                <a:t>서비스</a:t>
              </a:r>
              <a:endParaRPr lang="en-US" altLang="ko-KR" sz="3200" b="1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A2AFE60-A770-8602-DF18-04A26B0AC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386" t="13348" r="20774" b="13101"/>
            <a:stretch>
              <a:fillRect/>
            </a:stretch>
          </p:blipFill>
          <p:spPr>
            <a:xfrm>
              <a:off x="1616149" y="2392326"/>
              <a:ext cx="1190846" cy="1488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547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ECF6-23DE-C179-F4E0-E7F7136E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99CD1-F614-77C4-8EB7-9174BB6C8839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57F538-FD41-8D1C-DE7D-0430D0B9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7"/>
          <a:stretch>
            <a:fillRect/>
          </a:stretch>
        </p:blipFill>
        <p:spPr>
          <a:xfrm>
            <a:off x="630865" y="705356"/>
            <a:ext cx="10930270" cy="544728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0EC40BC-71DE-0C2F-FFE4-7E86FE23FD5F}"/>
              </a:ext>
            </a:extLst>
          </p:cNvPr>
          <p:cNvSpPr/>
          <p:nvPr/>
        </p:nvSpPr>
        <p:spPr>
          <a:xfrm>
            <a:off x="9941442" y="705356"/>
            <a:ext cx="792125" cy="3791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4680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BE85-4742-F29A-CB3D-B6755FD9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38F5E-2FBD-D4F8-4BA9-BBC5946A3A78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C5B781-D482-AB6D-C6D0-9D3E11937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52" y="195239"/>
            <a:ext cx="6191295" cy="64675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D06B9D6-7937-DFC2-AFD5-94A3F43F450F}"/>
              </a:ext>
            </a:extLst>
          </p:cNvPr>
          <p:cNvSpPr/>
          <p:nvPr/>
        </p:nvSpPr>
        <p:spPr>
          <a:xfrm>
            <a:off x="4124594" y="2587319"/>
            <a:ext cx="4758908" cy="11074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8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4E7A-D627-E8D8-012F-302EA468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1C7C95-E961-C463-39C5-FF31A15A58A2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4D2935-94B9-467F-D5D8-9B257853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22" y="514328"/>
            <a:ext cx="7505755" cy="58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19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11EE3-4672-9437-032D-B2C9ED21F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421D772-D43B-D466-D71B-AAE35B0BD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36" y="336886"/>
            <a:ext cx="6423727" cy="61842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A88B72-155D-2A56-2AF9-54D658418508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65317B-7682-8B1B-0A39-25A3CE4B7CD8}"/>
              </a:ext>
            </a:extLst>
          </p:cNvPr>
          <p:cNvSpPr/>
          <p:nvPr/>
        </p:nvSpPr>
        <p:spPr>
          <a:xfrm>
            <a:off x="3146399" y="4322134"/>
            <a:ext cx="2446327" cy="6166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0840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FEFF-CF4A-8A7A-7277-864BB0B2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D86260-E6B5-A78A-42A1-E65A5968F524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87C995-3530-38AE-A0CB-B6012B2F1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186" y="185714"/>
            <a:ext cx="7267628" cy="648657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F485986-BC65-CF03-4135-18FD2823C8F9}"/>
              </a:ext>
            </a:extLst>
          </p:cNvPr>
          <p:cNvSpPr/>
          <p:nvPr/>
        </p:nvSpPr>
        <p:spPr>
          <a:xfrm>
            <a:off x="2880585" y="4774018"/>
            <a:ext cx="3594643" cy="64858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0475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2770-C48A-35D4-2447-D1CF1503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2A9A7-1639-6001-B3BC-2114D6F32E4B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65A6E5-1F35-C39C-9E8E-C31DC55D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809"/>
          <a:stretch>
            <a:fillRect/>
          </a:stretch>
        </p:blipFill>
        <p:spPr>
          <a:xfrm>
            <a:off x="2541182" y="408699"/>
            <a:ext cx="7868092" cy="604060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EB027C3-CAEC-7074-5072-24C70623D87C}"/>
              </a:ext>
            </a:extLst>
          </p:cNvPr>
          <p:cNvSpPr/>
          <p:nvPr/>
        </p:nvSpPr>
        <p:spPr>
          <a:xfrm>
            <a:off x="2615610" y="2169042"/>
            <a:ext cx="1940442" cy="37214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51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6C72-D160-5B38-7950-08D9FD9B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06FE3-9612-BDDA-911E-86AC26332AD1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2996D2-332A-C162-1017-AF917999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30" y="300014"/>
            <a:ext cx="8753539" cy="625797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AF1C37C-88CE-56A9-20CE-ABC28C7CE8D3}"/>
              </a:ext>
            </a:extLst>
          </p:cNvPr>
          <p:cNvSpPr/>
          <p:nvPr/>
        </p:nvSpPr>
        <p:spPr>
          <a:xfrm>
            <a:off x="4098852" y="3306726"/>
            <a:ext cx="1222743" cy="329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98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1964-0EF6-36F4-AC55-45B93956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F1972BF-F0A9-3408-86EC-C0D9CE8B8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2"/>
          <a:stretch>
            <a:fillRect/>
          </a:stretch>
        </p:blipFill>
        <p:spPr>
          <a:xfrm>
            <a:off x="301256" y="740947"/>
            <a:ext cx="11589488" cy="51315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F2C8A0-4A8B-9A37-720F-79FBD94B45AA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B3F2D2-DE01-55B4-81E4-3767D10F8F96}"/>
              </a:ext>
            </a:extLst>
          </p:cNvPr>
          <p:cNvSpPr/>
          <p:nvPr/>
        </p:nvSpPr>
        <p:spPr>
          <a:xfrm>
            <a:off x="3269512" y="3099391"/>
            <a:ext cx="1525772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234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5EC0-8E3A-2334-31A0-8318B356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D6646D-5619-0831-1ADD-04D662D73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10" y="309539"/>
            <a:ext cx="7477180" cy="62389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29EF73-BBF1-F097-A8FD-04920EC7A81A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B7F8BB-1262-E0F1-AD24-4E9C93399ABA}"/>
              </a:ext>
            </a:extLst>
          </p:cNvPr>
          <p:cNvSpPr/>
          <p:nvPr/>
        </p:nvSpPr>
        <p:spPr>
          <a:xfrm>
            <a:off x="3455581" y="4359349"/>
            <a:ext cx="749596" cy="4837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904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DAA1-C288-BE40-2A9E-EE4B047A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E4B0F8-DF21-0968-F53B-8586E087B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718" y="194036"/>
            <a:ext cx="7706563" cy="64699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EB50D3-CCD6-B40B-987B-BE15A52F8D6F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C5A828-5894-E342-854A-B147C9371A14}"/>
              </a:ext>
            </a:extLst>
          </p:cNvPr>
          <p:cNvSpPr/>
          <p:nvPr/>
        </p:nvSpPr>
        <p:spPr>
          <a:xfrm>
            <a:off x="3455581" y="4359349"/>
            <a:ext cx="1584252" cy="2923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3221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EA5D-2541-687B-8418-E3C32B5D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CEDE7-0860-7505-1CD5-59612EDC1BE9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9F1F0E-5BCA-545B-140A-4A6B0DD5F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19" y="376215"/>
            <a:ext cx="8343961" cy="61055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C756F6-9DD2-0EB1-00B7-BA5F46340019}"/>
              </a:ext>
            </a:extLst>
          </p:cNvPr>
          <p:cNvSpPr/>
          <p:nvPr/>
        </p:nvSpPr>
        <p:spPr>
          <a:xfrm>
            <a:off x="3652283" y="5895754"/>
            <a:ext cx="786810" cy="4518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4499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91E2-23B6-5B3F-1A08-C20613DB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DB306-C165-B8E2-E34D-A9A6C458C3A4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65A11-0B3A-EA6C-B505-6F6C0869B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46" y="561462"/>
            <a:ext cx="10596907" cy="57350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3D8275A-BE79-8F0C-DB3C-240BAC0A93FE}"/>
              </a:ext>
            </a:extLst>
          </p:cNvPr>
          <p:cNvSpPr/>
          <p:nvPr/>
        </p:nvSpPr>
        <p:spPr>
          <a:xfrm>
            <a:off x="797546" y="1419447"/>
            <a:ext cx="1924388" cy="2817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4883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7B0D-89FB-DB6F-76C3-CF09569B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83E2E54-508C-4917-627A-5F6D0591A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18" y="526151"/>
            <a:ext cx="10275164" cy="5805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72DFA4-2706-0374-DA68-8DC7E02472AF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5BFC17A-7972-CD5C-EF70-8573A211DB0F}"/>
              </a:ext>
            </a:extLst>
          </p:cNvPr>
          <p:cNvSpPr/>
          <p:nvPr/>
        </p:nvSpPr>
        <p:spPr>
          <a:xfrm>
            <a:off x="2823047" y="2248787"/>
            <a:ext cx="1727687" cy="2817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211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A5D85-1223-FE16-FB60-09787F37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D0A399-B89A-FD6C-4134-FA484C957C04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821504-1C2A-63A0-B8A5-4498DAAD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6" t="18141" r="359" b="584"/>
          <a:stretch>
            <a:fillRect/>
          </a:stretch>
        </p:blipFill>
        <p:spPr>
          <a:xfrm>
            <a:off x="1426189" y="635079"/>
            <a:ext cx="9339622" cy="558784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7596E66-EB8E-EC06-6596-DFC7B11C3A35}"/>
              </a:ext>
            </a:extLst>
          </p:cNvPr>
          <p:cNvSpPr/>
          <p:nvPr/>
        </p:nvSpPr>
        <p:spPr>
          <a:xfrm>
            <a:off x="6166884" y="3471530"/>
            <a:ext cx="850605" cy="3455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EFB127-87DD-602D-2B3D-577663D05603}"/>
              </a:ext>
            </a:extLst>
          </p:cNvPr>
          <p:cNvSpPr/>
          <p:nvPr/>
        </p:nvSpPr>
        <p:spPr>
          <a:xfrm>
            <a:off x="4665921" y="5723859"/>
            <a:ext cx="1378688" cy="49906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881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00D3-5078-FC75-91B9-0A4D29F0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4E3B28-B33C-95A4-8222-B88C0E482A43}"/>
              </a:ext>
            </a:extLst>
          </p:cNvPr>
          <p:cNvSpPr txBox="1"/>
          <p:nvPr/>
        </p:nvSpPr>
        <p:spPr>
          <a:xfrm>
            <a:off x="122274" y="122273"/>
            <a:ext cx="155151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2. </a:t>
            </a:r>
            <a:r>
              <a:rPr lang="en-US" altLang="ko-KR" sz="2000" b="1" dirty="0" err="1"/>
              <a:t>Firestore</a:t>
            </a:r>
            <a:endParaRPr lang="en-US" altLang="ko-KR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510A91-3B7A-D0CC-10EE-9F0087B76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83" y="992700"/>
            <a:ext cx="7474034" cy="27673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E852F60-44D3-4347-BD3E-E2240777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42"/>
          <a:stretch>
            <a:fillRect/>
          </a:stretch>
        </p:blipFill>
        <p:spPr>
          <a:xfrm>
            <a:off x="3764339" y="4750318"/>
            <a:ext cx="4663322" cy="120292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37B0DC-48BD-8102-DAFB-C582826F367F}"/>
              </a:ext>
            </a:extLst>
          </p:cNvPr>
          <p:cNvSpPr/>
          <p:nvPr/>
        </p:nvSpPr>
        <p:spPr>
          <a:xfrm>
            <a:off x="8809075" y="3147236"/>
            <a:ext cx="946298" cy="50504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0069883-B9CB-BC14-E2E4-6A0EC0E27EAB}"/>
              </a:ext>
            </a:extLst>
          </p:cNvPr>
          <p:cNvSpPr/>
          <p:nvPr/>
        </p:nvSpPr>
        <p:spPr>
          <a:xfrm rot="5400000">
            <a:off x="5831852" y="3976080"/>
            <a:ext cx="528296" cy="5582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62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2DCA-6370-F4CE-17A5-558581AF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17A14-537A-2469-3EF6-8CEC24ED6487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86D4ED-64C9-786B-FE6C-49FB82B920B9}"/>
              </a:ext>
            </a:extLst>
          </p:cNvPr>
          <p:cNvGrpSpPr/>
          <p:nvPr/>
        </p:nvGrpSpPr>
        <p:grpSpPr>
          <a:xfrm>
            <a:off x="867505" y="2917220"/>
            <a:ext cx="10456990" cy="1023560"/>
            <a:chOff x="453102" y="2691747"/>
            <a:chExt cx="10456990" cy="10235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6B6E85-DD5D-7037-92ED-6DF3358290D2}"/>
                </a:ext>
              </a:extLst>
            </p:cNvPr>
            <p:cNvSpPr txBox="1"/>
            <p:nvPr/>
          </p:nvSpPr>
          <p:spPr>
            <a:xfrm>
              <a:off x="2813004" y="2766175"/>
              <a:ext cx="8097088" cy="73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3200" b="1" dirty="0"/>
                <a:t>로 만든 </a:t>
              </a:r>
              <a:r>
                <a:rPr lang="ko-KR" altLang="en-US" sz="3200" b="1" dirty="0" err="1"/>
                <a:t>백엔드</a:t>
              </a:r>
              <a:r>
                <a:rPr lang="ko-KR" altLang="en-US" sz="3200" b="1" dirty="0"/>
                <a:t> 서버를 배포해주는 서비스</a:t>
              </a:r>
              <a:endParaRPr lang="en-US" altLang="ko-KR" sz="3200" b="1" dirty="0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C7BAF19-6A55-57D8-3A28-BAEEBF582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102" y="2691747"/>
              <a:ext cx="2837675" cy="1023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090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8EC9-04CD-8AF4-7A8A-CAD9B7C8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398E72-00A0-AA04-AE97-301C7B1F3F6D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0BDC76-70F9-BB24-3E43-8A9743DE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11" y="1943089"/>
            <a:ext cx="10477577" cy="297182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B3EB7D5-F2D8-6766-9DEA-24A9CB22B216}"/>
              </a:ext>
            </a:extLst>
          </p:cNvPr>
          <p:cNvSpPr/>
          <p:nvPr/>
        </p:nvSpPr>
        <p:spPr>
          <a:xfrm>
            <a:off x="10121507" y="2275242"/>
            <a:ext cx="1012657" cy="5325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992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86D3-9BD0-8CDF-B16A-5899D81F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63322-7004-BAD8-83D9-2AEEB6151270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09B3C6-A095-E104-CFF1-738FF6F51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11" y="747693"/>
            <a:ext cx="10706178" cy="53626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3F2414-B856-D954-B2A8-91123EF94921}"/>
              </a:ext>
            </a:extLst>
          </p:cNvPr>
          <p:cNvSpPr/>
          <p:nvPr/>
        </p:nvSpPr>
        <p:spPr>
          <a:xfrm>
            <a:off x="9223244" y="2027816"/>
            <a:ext cx="1728041" cy="43568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215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B8E6-DAAC-BE98-3D5A-05DC3698C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34EA9B-F145-20B7-BAF7-C2A995D2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47"/>
          <a:stretch>
            <a:fillRect/>
          </a:stretch>
        </p:blipFill>
        <p:spPr>
          <a:xfrm>
            <a:off x="1201852" y="1573630"/>
            <a:ext cx="9788296" cy="3710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3E2DB8-4CEF-D55A-7831-DA5BC8ACE395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361A37-AC8C-2EE2-8DC7-C44C1E5C6617}"/>
              </a:ext>
            </a:extLst>
          </p:cNvPr>
          <p:cNvSpPr/>
          <p:nvPr/>
        </p:nvSpPr>
        <p:spPr>
          <a:xfrm>
            <a:off x="4416369" y="4270786"/>
            <a:ext cx="1053896" cy="5109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616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7180-08EB-6227-F70F-ECDA69A7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AC5DE-F06A-8353-6837-B23E6ADD12C1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C483B3-45A7-7287-8B96-5B235346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29" y="1365059"/>
            <a:ext cx="9951542" cy="41278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4D19F7-29AD-1B47-E717-2C04A594D1C3}"/>
              </a:ext>
            </a:extLst>
          </p:cNvPr>
          <p:cNvSpPr/>
          <p:nvPr/>
        </p:nvSpPr>
        <p:spPr>
          <a:xfrm>
            <a:off x="8871409" y="2085795"/>
            <a:ext cx="2127971" cy="5109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7151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16FE-F736-8090-2B28-B12A52DB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B84A7-8501-35DF-BDF8-89A2C8EC6B05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5E61015-A27F-C2CF-64BE-10AA4C3EBCCB}"/>
              </a:ext>
            </a:extLst>
          </p:cNvPr>
          <p:cNvGrpSpPr/>
          <p:nvPr/>
        </p:nvGrpSpPr>
        <p:grpSpPr>
          <a:xfrm>
            <a:off x="1682266" y="1857869"/>
            <a:ext cx="8827469" cy="3142263"/>
            <a:chOff x="1547359" y="1857867"/>
            <a:chExt cx="8827469" cy="314226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79AC321-0D93-8B30-C112-2E72EF6C2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7359" y="1857867"/>
              <a:ext cx="3715757" cy="314226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33D721B-8FE7-D0AD-03E8-F3EF89B53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072" y="1857867"/>
              <a:ext cx="3715756" cy="3139579"/>
            </a:xfrm>
            <a:prstGeom prst="rect">
              <a:avLst/>
            </a:prstGeom>
          </p:spPr>
        </p:pic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F879A1-A2C8-4BE0-D7A6-D04ED415AA53}"/>
              </a:ext>
            </a:extLst>
          </p:cNvPr>
          <p:cNvSpPr/>
          <p:nvPr/>
        </p:nvSpPr>
        <p:spPr>
          <a:xfrm>
            <a:off x="1928349" y="2968297"/>
            <a:ext cx="3053004" cy="4607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6B3498-7702-0F0C-1E41-0DFDC1F53D6E}"/>
              </a:ext>
            </a:extLst>
          </p:cNvPr>
          <p:cNvSpPr/>
          <p:nvPr/>
        </p:nvSpPr>
        <p:spPr>
          <a:xfrm>
            <a:off x="7056787" y="4035097"/>
            <a:ext cx="3053004" cy="4607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7618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7DA5-094A-9369-2EEF-74B9833F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3CEEAF-3DEC-B95C-BC56-FB78E93E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54" y="438128"/>
            <a:ext cx="9039291" cy="5981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DE764E-0BCA-EEB8-A5AC-CA27610BAB52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6DD50D-7EFA-498D-A973-7721FECFD279}"/>
              </a:ext>
            </a:extLst>
          </p:cNvPr>
          <p:cNvSpPr/>
          <p:nvPr/>
        </p:nvSpPr>
        <p:spPr>
          <a:xfrm>
            <a:off x="1876646" y="3253563"/>
            <a:ext cx="6730409" cy="14566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FBAF32-7E3D-3CC0-D3A5-3C8482C9E93F}"/>
              </a:ext>
            </a:extLst>
          </p:cNvPr>
          <p:cNvSpPr/>
          <p:nvPr/>
        </p:nvSpPr>
        <p:spPr>
          <a:xfrm>
            <a:off x="1701210" y="5789428"/>
            <a:ext cx="637954" cy="4253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340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D6596-5202-52B5-7159-0EC9DD85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72329-4DD3-3364-B045-36B8DD0CF459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AE1D45-D6E5-152E-B218-3204D593B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17" y="1235509"/>
            <a:ext cx="10930965" cy="438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53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C2EC-49E1-0236-5053-9CE608FC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5FB4884-EFE0-70F2-F749-1F612C690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5" y="672295"/>
            <a:ext cx="11270258" cy="6063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84830-9310-4AC0-4AC2-3933884F3A4E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C1B486-9200-3473-C810-F5E0E69D4EAF}"/>
              </a:ext>
            </a:extLst>
          </p:cNvPr>
          <p:cNvSpPr/>
          <p:nvPr/>
        </p:nvSpPr>
        <p:spPr>
          <a:xfrm>
            <a:off x="4508204" y="3891515"/>
            <a:ext cx="7075967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E5BE70-C001-445D-6433-F2B4D6275D4C}"/>
              </a:ext>
            </a:extLst>
          </p:cNvPr>
          <p:cNvSpPr/>
          <p:nvPr/>
        </p:nvSpPr>
        <p:spPr>
          <a:xfrm>
            <a:off x="4359349" y="1653363"/>
            <a:ext cx="7345326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5A3EDC-F8E3-00A0-0841-6EF5FBFCE0F5}"/>
              </a:ext>
            </a:extLst>
          </p:cNvPr>
          <p:cNvSpPr/>
          <p:nvPr/>
        </p:nvSpPr>
        <p:spPr>
          <a:xfrm flipV="1">
            <a:off x="544031" y="6191020"/>
            <a:ext cx="1428307" cy="4383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2690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8AFF-5D6B-5715-2A42-E0D35A4D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696DB8-9A4D-ADCA-A76D-5A1B20EABE60}"/>
              </a:ext>
            </a:extLst>
          </p:cNvPr>
          <p:cNvSpPr txBox="1"/>
          <p:nvPr/>
        </p:nvSpPr>
        <p:spPr>
          <a:xfrm>
            <a:off x="122274" y="122273"/>
            <a:ext cx="1300356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기습 질문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F53FD-2282-1441-85D7-38F198D8E8BB}"/>
              </a:ext>
            </a:extLst>
          </p:cNvPr>
          <p:cNvSpPr txBox="1"/>
          <p:nvPr/>
        </p:nvSpPr>
        <p:spPr>
          <a:xfrm>
            <a:off x="1197978" y="3000091"/>
            <a:ext cx="9796080" cy="1474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/>
              <a:t>하나의 </a:t>
            </a:r>
            <a:r>
              <a:rPr lang="en-US" altLang="ko-KR" sz="3200" b="1" dirty="0"/>
              <a:t>GitHub Repository</a:t>
            </a:r>
            <a:r>
              <a:rPr lang="ko-KR" altLang="en-US" sz="3200" b="1" dirty="0"/>
              <a:t>로 </a:t>
            </a:r>
            <a:endParaRPr lang="en-US" altLang="ko-KR" sz="3200" b="1" dirty="0"/>
          </a:p>
          <a:p>
            <a:pPr algn="ctr">
              <a:lnSpc>
                <a:spcPct val="150000"/>
              </a:lnSpc>
            </a:pPr>
            <a:r>
              <a:rPr lang="en-US" altLang="ko-KR" sz="3200" b="1" dirty="0"/>
              <a:t>Render</a:t>
            </a:r>
            <a:r>
              <a:rPr lang="ko-KR" altLang="en-US" sz="3200" b="1" dirty="0"/>
              <a:t>와 </a:t>
            </a:r>
            <a:r>
              <a:rPr lang="en-US" altLang="ko-KR" sz="3200" b="1" dirty="0" err="1"/>
              <a:t>Vercel</a:t>
            </a:r>
            <a:r>
              <a:rPr lang="ko-KR" altLang="en-US" sz="3200" b="1" dirty="0"/>
              <a:t>을 모두 배포하는 것이 가능할까요</a:t>
            </a:r>
            <a:r>
              <a:rPr lang="en-US" altLang="ko-KR" sz="3200" b="1" dirty="0"/>
              <a:t>?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EEC262-A9DA-005C-9074-BE8C5221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639" y="1589503"/>
            <a:ext cx="1160722" cy="11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51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5296-6DF2-C4CB-4C95-BEECA699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438785-01E2-5690-9121-B9DAB1E626B8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b="1" dirty="0"/>
              <a:t>기습 질문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295B3-53C4-D228-8F82-3945B7C478B8}"/>
              </a:ext>
            </a:extLst>
          </p:cNvPr>
          <p:cNvSpPr txBox="1"/>
          <p:nvPr/>
        </p:nvSpPr>
        <p:spPr>
          <a:xfrm>
            <a:off x="1032072" y="3365411"/>
            <a:ext cx="10127902" cy="735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/>
              <a:t>Render</a:t>
            </a:r>
            <a:r>
              <a:rPr lang="ko-KR" altLang="en-US" sz="3200" b="1" dirty="0"/>
              <a:t>와 </a:t>
            </a:r>
            <a:r>
              <a:rPr lang="en-US" altLang="ko-KR" sz="3200" b="1" dirty="0" err="1"/>
              <a:t>Vercel</a:t>
            </a:r>
            <a:r>
              <a:rPr lang="ko-KR" altLang="en-US" sz="3200" b="1" dirty="0"/>
              <a:t>에서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몇가지 설정을 하면 가능합니다</a:t>
            </a:r>
            <a:r>
              <a:rPr lang="en-US" altLang="ko-KR" sz="3200" b="1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09A9B3-5FB3-B749-0246-48942742C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649" y="1848471"/>
            <a:ext cx="1090701" cy="10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80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9FDDB-A887-DEF9-E43E-269ADD68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A8A395-8785-6F8E-C02C-76E39B46232D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10F45C-432B-2F86-6E16-ABF50E054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8" y="701539"/>
            <a:ext cx="11272284" cy="31422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053328-766F-BCE4-7EC3-005FE2CA48EE}"/>
              </a:ext>
            </a:extLst>
          </p:cNvPr>
          <p:cNvSpPr txBox="1"/>
          <p:nvPr/>
        </p:nvSpPr>
        <p:spPr>
          <a:xfrm>
            <a:off x="438593" y="4028822"/>
            <a:ext cx="11314814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/>
              <a:t>Render</a:t>
            </a:r>
            <a:r>
              <a:rPr lang="ko-KR" altLang="en-US" sz="2400" b="1" dirty="0"/>
              <a:t>의 </a:t>
            </a:r>
            <a:r>
              <a:rPr lang="en-US" altLang="ko-KR" sz="2400" b="1" dirty="0"/>
              <a:t>Root Directory</a:t>
            </a:r>
            <a:r>
              <a:rPr lang="ko-KR" altLang="en-US" sz="2400" b="1" dirty="0"/>
              <a:t>는</a:t>
            </a:r>
            <a:r>
              <a:rPr lang="en-US" altLang="ko-KR" sz="24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2400" b="1" dirty="0"/>
              <a:t>유니코드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한글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경로를 설정할 수 없게 되어 있습니다</a:t>
            </a:r>
            <a:r>
              <a:rPr lang="en-US" altLang="ko-KR" sz="2400" b="1" dirty="0"/>
              <a:t>.</a:t>
            </a:r>
            <a:br>
              <a:rPr lang="en-US" altLang="ko-KR" sz="2400" b="1" dirty="0"/>
            </a:br>
            <a:r>
              <a:rPr lang="ko-KR" altLang="en-US" sz="2400" b="1" dirty="0"/>
              <a:t>따라서 빈칸으로 설정합니다</a:t>
            </a:r>
            <a:r>
              <a:rPr lang="en-US" altLang="ko-KR" sz="2400" b="1" dirty="0"/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7A70E6-0626-6E4E-F2A2-3F3443C8C7A1}"/>
              </a:ext>
            </a:extLst>
          </p:cNvPr>
          <p:cNvSpPr/>
          <p:nvPr/>
        </p:nvSpPr>
        <p:spPr>
          <a:xfrm>
            <a:off x="4327451" y="886460"/>
            <a:ext cx="7272670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6029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1D31-2A09-C1D3-60F1-9D0958F6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BD4E00-CD34-5D20-44D8-25B15ED77D36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8AD7D-7612-024C-62B2-8C7309D1EBAC}"/>
              </a:ext>
            </a:extLst>
          </p:cNvPr>
          <p:cNvSpPr txBox="1"/>
          <p:nvPr/>
        </p:nvSpPr>
        <p:spPr>
          <a:xfrm>
            <a:off x="438593" y="3933130"/>
            <a:ext cx="11314814" cy="23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/>
              <a:t>대신 </a:t>
            </a:r>
            <a:r>
              <a:rPr lang="en-US" altLang="ko-KR" sz="2400" b="1" dirty="0"/>
              <a:t>Build Command </a:t>
            </a:r>
            <a:r>
              <a:rPr lang="ko-KR" altLang="en-US" sz="2400" b="1" dirty="0"/>
              <a:t>및 </a:t>
            </a:r>
            <a:r>
              <a:rPr lang="en-US" altLang="ko-KR" sz="2400" b="1" dirty="0"/>
              <a:t>Start Command</a:t>
            </a:r>
            <a:r>
              <a:rPr lang="ko-KR" altLang="en-US" sz="2400" b="1" dirty="0"/>
              <a:t>에서 </a:t>
            </a:r>
            <a:endParaRPr lang="en-US" altLang="ko-KR" sz="2400" b="1" dirty="0"/>
          </a:p>
          <a:p>
            <a:pPr algn="ctr">
              <a:lnSpc>
                <a:spcPct val="150000"/>
              </a:lnSpc>
            </a:pPr>
            <a:r>
              <a:rPr lang="ko-KR" altLang="en-US" sz="2400" b="1" dirty="0"/>
              <a:t>따옴표를 사용하여 한글 폴더 경로를 직접 지정합니다</a:t>
            </a:r>
            <a:r>
              <a:rPr lang="en-US" altLang="ko-KR" sz="2400" b="1" dirty="0"/>
              <a:t>:</a:t>
            </a:r>
          </a:p>
          <a:p>
            <a:pPr algn="ctr">
              <a:lnSpc>
                <a:spcPct val="150000"/>
              </a:lnSpc>
            </a:pPr>
            <a:r>
              <a:rPr lang="en-US" altLang="ko-KR" sz="1100" b="1" dirty="0"/>
              <a:t> </a:t>
            </a:r>
            <a:endParaRPr lang="en-US" altLang="ko-KR" sz="2400" b="1" dirty="0"/>
          </a:p>
          <a:p>
            <a:pPr algn="ctr">
              <a:lnSpc>
                <a:spcPct val="150000"/>
              </a:lnSpc>
            </a:pPr>
            <a:r>
              <a:rPr lang="en-US" altLang="ko-KR" sz="2000" b="1" dirty="0"/>
              <a:t>pip install -r "M1-2/</a:t>
            </a:r>
            <a:r>
              <a:rPr lang="ko-KR" altLang="en-US" sz="2000" b="1" dirty="0"/>
              <a:t>과제산출물</a:t>
            </a:r>
            <a:r>
              <a:rPr lang="en-US" altLang="ko-KR" sz="2000" b="1" dirty="0"/>
              <a:t>/backend/requirements.txt”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 err="1"/>
              <a:t>Uvicorn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main:app</a:t>
            </a:r>
            <a:r>
              <a:rPr lang="en-US" altLang="ko-KR" sz="2000" b="1" dirty="0"/>
              <a:t> –app-</a:t>
            </a:r>
            <a:r>
              <a:rPr lang="en-US" altLang="ko-KR" sz="2000" b="1" dirty="0" err="1"/>
              <a:t>dir</a:t>
            </a:r>
            <a:r>
              <a:rPr lang="en-US" altLang="ko-KR" sz="2000" b="1" dirty="0"/>
              <a:t> “M1-2/</a:t>
            </a:r>
            <a:r>
              <a:rPr lang="ko-KR" altLang="en-US" sz="2000" b="1" dirty="0"/>
              <a:t>과제산출물</a:t>
            </a:r>
            <a:r>
              <a:rPr lang="en-US" altLang="ko-KR" sz="2000" b="1" dirty="0"/>
              <a:t>/backend" --host 0.0.0.0 --port $PORT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21C029-D2B2-9F06-67C8-C3F6D4BF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8" y="701539"/>
            <a:ext cx="11272284" cy="314227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FE449B-AAFD-6745-793B-0063C3AD061F}"/>
              </a:ext>
            </a:extLst>
          </p:cNvPr>
          <p:cNvSpPr/>
          <p:nvPr/>
        </p:nvSpPr>
        <p:spPr>
          <a:xfrm>
            <a:off x="4316819" y="2226163"/>
            <a:ext cx="7345326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11CF1-763E-1D93-C350-E3290BA162C4}"/>
              </a:ext>
            </a:extLst>
          </p:cNvPr>
          <p:cNvSpPr/>
          <p:nvPr/>
        </p:nvSpPr>
        <p:spPr>
          <a:xfrm>
            <a:off x="4316819" y="3113981"/>
            <a:ext cx="7345326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55374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8AE7-107F-E0D5-178D-2B27D433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73EE3D-7EB7-C37D-3A2E-65FBCB20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086" y="434541"/>
            <a:ext cx="9243827" cy="6212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F9E317-3B14-4A69-E507-3B0A1F8A5892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BBB36-7823-F4B9-664A-63835C1FE16D}"/>
              </a:ext>
            </a:extLst>
          </p:cNvPr>
          <p:cNvSpPr/>
          <p:nvPr/>
        </p:nvSpPr>
        <p:spPr>
          <a:xfrm>
            <a:off x="1552352" y="4726171"/>
            <a:ext cx="9016410" cy="3455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F59B11-550B-FE06-4FC7-A10A17AA8E18}"/>
              </a:ext>
            </a:extLst>
          </p:cNvPr>
          <p:cNvSpPr/>
          <p:nvPr/>
        </p:nvSpPr>
        <p:spPr>
          <a:xfrm>
            <a:off x="1473349" y="452308"/>
            <a:ext cx="1428307" cy="55778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487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3346-57EC-3DDA-6515-CA1D768F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B84E84-E9D2-7403-2F57-4E2638CE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18" y="889094"/>
            <a:ext cx="10886763" cy="5593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E8A71E-E602-4903-4A94-2249BDC1DB2F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D91575-9ABA-364E-2C13-65A920E5B9DA}"/>
              </a:ext>
            </a:extLst>
          </p:cNvPr>
          <p:cNvSpPr/>
          <p:nvPr/>
        </p:nvSpPr>
        <p:spPr>
          <a:xfrm>
            <a:off x="3186139" y="1957892"/>
            <a:ext cx="2031320" cy="2366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A01BB6-C4D4-A986-3E18-D279911FBA0A}"/>
              </a:ext>
            </a:extLst>
          </p:cNvPr>
          <p:cNvSpPr/>
          <p:nvPr/>
        </p:nvSpPr>
        <p:spPr>
          <a:xfrm>
            <a:off x="652618" y="3583597"/>
            <a:ext cx="2085266" cy="2972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2160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AE172-0B7C-6B79-C4FD-12C58AFB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66A0140-ED17-D32F-F2BE-52FF7E26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18" y="889094"/>
            <a:ext cx="10886763" cy="5593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7BBBB8-A0F0-42AD-B5EA-938F4FC5E371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FAD081-3FDB-F90F-CCBC-E58B3F56C6F8}"/>
              </a:ext>
            </a:extLst>
          </p:cNvPr>
          <p:cNvSpPr/>
          <p:nvPr/>
        </p:nvSpPr>
        <p:spPr>
          <a:xfrm>
            <a:off x="3498110" y="5968906"/>
            <a:ext cx="1326695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D87721-4F29-9A38-E682-447A22D95863}"/>
              </a:ext>
            </a:extLst>
          </p:cNvPr>
          <p:cNvSpPr/>
          <p:nvPr/>
        </p:nvSpPr>
        <p:spPr>
          <a:xfrm>
            <a:off x="3614797" y="5187412"/>
            <a:ext cx="7533440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550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19DC-7FED-D83F-A8D9-1C4A1F19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3A05F8-8A4F-733D-CE37-47AE2078E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18" y="889094"/>
            <a:ext cx="10886763" cy="55934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9981CB-72D4-44D7-FDC6-96930F1ADD7B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9487C8-CE05-0740-7D72-02B7F7CD3B88}"/>
              </a:ext>
            </a:extLst>
          </p:cNvPr>
          <p:cNvSpPr/>
          <p:nvPr/>
        </p:nvSpPr>
        <p:spPr>
          <a:xfrm>
            <a:off x="8789413" y="5968906"/>
            <a:ext cx="1752768" cy="3668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3031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A0A7-A8C4-2DE3-860A-E6297970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6A91B-DF3B-D34E-DA12-E215D5713AB4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28582F-20FD-B408-696F-0C8119A49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51" y="861993"/>
            <a:ext cx="9953698" cy="513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83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1AF1-1B9F-EA4C-BE94-373897C4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C490D-F248-FDC4-D47D-7EA69990E344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806C66-9234-3095-DD61-213D7B7A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51" y="861993"/>
            <a:ext cx="9953698" cy="513401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D4BBDF2-68C8-9350-55DE-EF71BA83C0E9}"/>
              </a:ext>
            </a:extLst>
          </p:cNvPr>
          <p:cNvSpPr/>
          <p:nvPr/>
        </p:nvSpPr>
        <p:spPr>
          <a:xfrm>
            <a:off x="1660284" y="4533510"/>
            <a:ext cx="7850540" cy="46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4910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FFF5-54DF-42EC-BFC6-BE69A718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E774D1-50AF-71AA-5D58-3B20BEB094F9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B2D32D-5C61-7D7B-8DC5-F78C9166F1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7" t="70607" r="5437" b="18417"/>
          <a:stretch>
            <a:fillRect/>
          </a:stretch>
        </p:blipFill>
        <p:spPr>
          <a:xfrm>
            <a:off x="1660284" y="893135"/>
            <a:ext cx="8871432" cy="56352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4FDF27-1286-D722-7A2C-AE8019F0E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15" y="2195623"/>
            <a:ext cx="4278206" cy="41729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1EEE918-C0CD-A347-F3E6-B7C03DE5A8EB}"/>
              </a:ext>
            </a:extLst>
          </p:cNvPr>
          <p:cNvSpPr/>
          <p:nvPr/>
        </p:nvSpPr>
        <p:spPr>
          <a:xfrm>
            <a:off x="232793" y="3535006"/>
            <a:ext cx="4055882" cy="5230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D7921A-CAE3-C817-AA30-D1E1A9797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3238" y="2197550"/>
            <a:ext cx="7574628" cy="273798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39857E-2BFD-6694-4142-94591F3B5B54}"/>
              </a:ext>
            </a:extLst>
          </p:cNvPr>
          <p:cNvSpPr/>
          <p:nvPr/>
        </p:nvSpPr>
        <p:spPr>
          <a:xfrm>
            <a:off x="10919636" y="3473301"/>
            <a:ext cx="255183" cy="13910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F46D8-D5FE-A307-2751-52FA11CEE58D}"/>
              </a:ext>
            </a:extLst>
          </p:cNvPr>
          <p:cNvSpPr txBox="1"/>
          <p:nvPr/>
        </p:nvSpPr>
        <p:spPr>
          <a:xfrm>
            <a:off x="6001265" y="5388940"/>
            <a:ext cx="4618572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/>
              <a:t>발급 받았던 </a:t>
            </a:r>
            <a:r>
              <a:rPr lang="en-US" altLang="ko-KR" sz="2400" b="1" dirty="0"/>
              <a:t>Gemini API</a:t>
            </a:r>
            <a:r>
              <a:rPr lang="ko-KR" altLang="en-US" sz="2400" b="1" dirty="0"/>
              <a:t>를 입력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7182390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0902-CE35-BEBE-95B1-B1EDF71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E83A1-B102-DB3F-8755-3F6810E2DE53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8972EE-4FB3-F746-5BD3-9C26D60CF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51" y="861993"/>
            <a:ext cx="9953698" cy="513401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0F56974-370A-F80C-1189-2C6F3789C40F}"/>
              </a:ext>
            </a:extLst>
          </p:cNvPr>
          <p:cNvSpPr/>
          <p:nvPr/>
        </p:nvSpPr>
        <p:spPr>
          <a:xfrm>
            <a:off x="1670916" y="3996566"/>
            <a:ext cx="7850540" cy="46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9785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E94A-876B-1B37-6FC0-C4E40893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D7FA9-46A9-CBEF-DC26-DA0B48DCB9C4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991978-53E8-D34F-6CA2-4C970CEF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2" t="61055" r="3729" b="28565"/>
          <a:stretch>
            <a:fillRect/>
          </a:stretch>
        </p:blipFill>
        <p:spPr>
          <a:xfrm>
            <a:off x="1537290" y="1099194"/>
            <a:ext cx="9117419" cy="53290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695EAA0-5BF8-1B26-ECEE-08588A5A18CA}"/>
              </a:ext>
            </a:extLst>
          </p:cNvPr>
          <p:cNvSpPr/>
          <p:nvPr/>
        </p:nvSpPr>
        <p:spPr>
          <a:xfrm rot="16200000">
            <a:off x="5831851" y="1759192"/>
            <a:ext cx="528296" cy="5582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718BCC-E24C-6D6D-00F1-C89DA262DC67}"/>
              </a:ext>
            </a:extLst>
          </p:cNvPr>
          <p:cNvSpPr/>
          <p:nvPr/>
        </p:nvSpPr>
        <p:spPr>
          <a:xfrm>
            <a:off x="4502391" y="1099194"/>
            <a:ext cx="4944637" cy="46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399C18-8169-D28A-AFCB-DD21154B544C}"/>
              </a:ext>
            </a:extLst>
          </p:cNvPr>
          <p:cNvSpPr txBox="1"/>
          <p:nvPr/>
        </p:nvSpPr>
        <p:spPr>
          <a:xfrm>
            <a:off x="3607722" y="4116924"/>
            <a:ext cx="4976554" cy="1682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 err="1"/>
              <a:t>Firestore</a:t>
            </a:r>
            <a:r>
              <a:rPr lang="ko-KR" altLang="en-US" sz="2400" b="1" dirty="0"/>
              <a:t>에서 다운 받았던 파일을 </a:t>
            </a:r>
            <a:endParaRPr lang="en-US" altLang="ko-KR" sz="2400" b="1" dirty="0"/>
          </a:p>
          <a:p>
            <a:pPr algn="ctr">
              <a:lnSpc>
                <a:spcPct val="150000"/>
              </a:lnSpc>
            </a:pPr>
            <a:r>
              <a:rPr lang="ko-KR" altLang="en-US" sz="2400" b="1" dirty="0"/>
              <a:t>텍스트 편집기를 통해 열어 </a:t>
            </a:r>
            <a:endParaRPr lang="en-US" altLang="ko-KR" sz="2400" b="1" dirty="0"/>
          </a:p>
          <a:p>
            <a:pPr algn="ctr">
              <a:lnSpc>
                <a:spcPct val="150000"/>
              </a:lnSpc>
            </a:pPr>
            <a:r>
              <a:rPr lang="ko-KR" altLang="en-US" sz="2400" b="1" dirty="0"/>
              <a:t>내용을 통째로 복사해서 넣기</a:t>
            </a:r>
            <a:endParaRPr lang="en-US" altLang="ko-KR" sz="24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5C283F1-49BF-85BA-C8FA-3C306C6309A7}"/>
              </a:ext>
            </a:extLst>
          </p:cNvPr>
          <p:cNvGrpSpPr/>
          <p:nvPr/>
        </p:nvGrpSpPr>
        <p:grpSpPr>
          <a:xfrm>
            <a:off x="3110287" y="2608223"/>
            <a:ext cx="5971423" cy="1202924"/>
            <a:chOff x="2456237" y="2557470"/>
            <a:chExt cx="5971423" cy="12029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1F2ECC7-F095-B57B-31E7-2AA1F9A14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542"/>
            <a:stretch>
              <a:fillRect/>
            </a:stretch>
          </p:blipFill>
          <p:spPr>
            <a:xfrm>
              <a:off x="3764338" y="2557470"/>
              <a:ext cx="4663322" cy="1202924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7179F26-0035-EEC7-2D5F-B78D1DA5B03C}"/>
                </a:ext>
              </a:extLst>
            </p:cNvPr>
            <p:cNvGrpSpPr/>
            <p:nvPr/>
          </p:nvGrpSpPr>
          <p:grpSpPr>
            <a:xfrm>
              <a:off x="2456237" y="2658339"/>
              <a:ext cx="1073773" cy="1001185"/>
              <a:chOff x="1661333" y="3891831"/>
              <a:chExt cx="2097823" cy="1956008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7A77FFE3-8BD1-1CAA-B26B-2BA3A4A7C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1986" t="30685" r="8963" b="28896"/>
              <a:stretch>
                <a:fillRect/>
              </a:stretch>
            </p:blipFill>
            <p:spPr>
              <a:xfrm>
                <a:off x="1830441" y="5151208"/>
                <a:ext cx="1928715" cy="696631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4EDC19B4-06DF-5F2A-3FD1-44EA5BEF2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1333" y="3891831"/>
                <a:ext cx="2097823" cy="145001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114087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28232-16B0-D7E2-8F3D-08818B09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46B3CF-0C79-8741-A1AA-67954616DDE5}"/>
              </a:ext>
            </a:extLst>
          </p:cNvPr>
          <p:cNvSpPr txBox="1"/>
          <p:nvPr/>
        </p:nvSpPr>
        <p:spPr>
          <a:xfrm>
            <a:off x="122274" y="122273"/>
            <a:ext cx="1351075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3. Render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484A1F-BCB1-BC44-6E2D-62B3B6A0A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38" y="847664"/>
            <a:ext cx="9848922" cy="23812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7105DA1-9BC1-579D-15DD-644D53885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42"/>
          <a:stretch>
            <a:fillRect/>
          </a:stretch>
        </p:blipFill>
        <p:spPr>
          <a:xfrm>
            <a:off x="3673971" y="3517536"/>
            <a:ext cx="4663322" cy="1202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C3902-B4D1-4ABB-67B0-15EF1E716DFC}"/>
              </a:ext>
            </a:extLst>
          </p:cNvPr>
          <p:cNvSpPr txBox="1"/>
          <p:nvPr/>
        </p:nvSpPr>
        <p:spPr>
          <a:xfrm>
            <a:off x="1035906" y="4949796"/>
            <a:ext cx="9939452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/>
              <a:t>위 기능을 통해 </a:t>
            </a:r>
            <a:r>
              <a:rPr lang="en-US" altLang="ko-KR" sz="2400" b="1" dirty="0" err="1"/>
              <a:t>Firestore</a:t>
            </a:r>
            <a:r>
              <a:rPr lang="ko-KR" altLang="en-US" sz="2400" b="1" dirty="0"/>
              <a:t> 설정 파일 직접 업로드 해 사용할 수도 있음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1432417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113A-E438-7E04-FA97-CF2A9557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65A993-F1FB-99F1-B5A3-B9F0E81FB7C8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CB216-6A9F-24C4-FC89-544875BBC2E0}"/>
              </a:ext>
            </a:extLst>
          </p:cNvPr>
          <p:cNvSpPr txBox="1"/>
          <p:nvPr/>
        </p:nvSpPr>
        <p:spPr>
          <a:xfrm>
            <a:off x="3196809" y="3061079"/>
            <a:ext cx="5798382" cy="735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/>
              <a:t>활용 단계 </a:t>
            </a:r>
            <a:r>
              <a:rPr lang="en-US" altLang="ko-KR" sz="3200" b="1" dirty="0"/>
              <a:t>A1-3 </a:t>
            </a:r>
            <a:r>
              <a:rPr lang="ko-KR" altLang="en-US" sz="3200" b="1" dirty="0"/>
              <a:t>과제에서 사용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36605453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5B9D-64C3-8FF0-F7BE-149E55D96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8685E-E8D2-E885-596B-F7742F21EE3F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DCC484-1C3A-BF58-0502-FC10186A6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42" t="5943" b="21448"/>
          <a:stretch>
            <a:fillRect/>
          </a:stretch>
        </p:blipFill>
        <p:spPr>
          <a:xfrm>
            <a:off x="916557" y="926791"/>
            <a:ext cx="10358885" cy="500441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C9F00E8-9549-29F3-47D2-E6BA6FDF942B}"/>
              </a:ext>
            </a:extLst>
          </p:cNvPr>
          <p:cNvSpPr/>
          <p:nvPr/>
        </p:nvSpPr>
        <p:spPr>
          <a:xfrm>
            <a:off x="10084981" y="1068573"/>
            <a:ext cx="1127051" cy="43593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5429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4504-08E8-FBA3-7652-01A31EA9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1DAD9A7-CBF4-18C2-3370-B88D719CF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35" y="976294"/>
            <a:ext cx="10991930" cy="4905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5123BA-0950-97BA-D62C-3AC949417FD7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CE46F3-EE0B-7BDB-D0BA-F7DA78487D5F}"/>
              </a:ext>
            </a:extLst>
          </p:cNvPr>
          <p:cNvSpPr/>
          <p:nvPr/>
        </p:nvSpPr>
        <p:spPr>
          <a:xfrm>
            <a:off x="7262037" y="1419447"/>
            <a:ext cx="1004777" cy="49441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67300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B3151-DD67-B7C8-D862-6CE0AC69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01437FC-6D51-2FD3-F60B-5740E84F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56"/>
          <a:stretch>
            <a:fillRect/>
          </a:stretch>
        </p:blipFill>
        <p:spPr>
          <a:xfrm>
            <a:off x="149742" y="981102"/>
            <a:ext cx="11892516" cy="4895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0B71D2-4DF0-9B38-E68E-E7042CB84EFD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CBC6533-6CE6-997F-38B3-1C4ADA4B66A0}"/>
              </a:ext>
            </a:extLst>
          </p:cNvPr>
          <p:cNvSpPr/>
          <p:nvPr/>
        </p:nvSpPr>
        <p:spPr>
          <a:xfrm>
            <a:off x="230821" y="3141921"/>
            <a:ext cx="5712779" cy="254649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2583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640C-88A4-FF5B-5DE9-65298DB3D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6104F1-C8D0-4244-9748-818BB0CA1116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0882B1-BC80-C560-55BB-19C55A6E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309" y="312048"/>
            <a:ext cx="9139382" cy="62339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7EF2A7E-4644-2A80-42A3-1AB174C464ED}"/>
              </a:ext>
            </a:extLst>
          </p:cNvPr>
          <p:cNvSpPr/>
          <p:nvPr/>
        </p:nvSpPr>
        <p:spPr>
          <a:xfrm>
            <a:off x="1958612" y="3019646"/>
            <a:ext cx="6637811" cy="1499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DC1BED-705E-E2BA-41AF-C9FBEDADEE68}"/>
              </a:ext>
            </a:extLst>
          </p:cNvPr>
          <p:cNvSpPr/>
          <p:nvPr/>
        </p:nvSpPr>
        <p:spPr>
          <a:xfrm>
            <a:off x="1807535" y="5901070"/>
            <a:ext cx="659218" cy="40935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65345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ADAC-DDBD-6459-E16D-D65A7CD1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DC0C0-9A5A-33C6-66B5-EFCA27EC4875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CE4FC-8491-CDE1-4ED8-8B10CAD65682}"/>
              </a:ext>
            </a:extLst>
          </p:cNvPr>
          <p:cNvSpPr txBox="1"/>
          <p:nvPr/>
        </p:nvSpPr>
        <p:spPr>
          <a:xfrm>
            <a:off x="2039554" y="2322415"/>
            <a:ext cx="8112926" cy="2213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/>
              <a:t>하나의 </a:t>
            </a:r>
            <a:r>
              <a:rPr lang="en-US" altLang="ko-KR" sz="3200" b="1" dirty="0"/>
              <a:t>GitHub Repository</a:t>
            </a:r>
            <a:r>
              <a:rPr lang="ko-KR" altLang="en-US" sz="3200" b="1" dirty="0"/>
              <a:t>로 </a:t>
            </a:r>
            <a:endParaRPr lang="en-US" altLang="ko-KR" sz="3200" b="1" dirty="0"/>
          </a:p>
          <a:p>
            <a:pPr algn="ctr">
              <a:lnSpc>
                <a:spcPct val="150000"/>
              </a:lnSpc>
            </a:pPr>
            <a:r>
              <a:rPr lang="en-US" altLang="ko-KR" sz="3200" b="1" dirty="0"/>
              <a:t>Render</a:t>
            </a:r>
            <a:r>
              <a:rPr lang="ko-KR" altLang="en-US" sz="3200" b="1" dirty="0"/>
              <a:t>와 </a:t>
            </a:r>
            <a:r>
              <a:rPr lang="en-US" altLang="ko-KR" sz="3200" b="1" dirty="0" err="1"/>
              <a:t>Vercel</a:t>
            </a:r>
            <a:r>
              <a:rPr lang="ko-KR" altLang="en-US" sz="3200" b="1" dirty="0"/>
              <a:t>을 모두 배포할 때 필요한</a:t>
            </a:r>
            <a:r>
              <a:rPr lang="en-US" altLang="ko-KR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altLang="ko-KR" sz="3200" b="1" dirty="0" err="1"/>
              <a:t>Vercel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설정</a:t>
            </a:r>
            <a:endParaRPr lang="en-US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32587084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70699-9BD2-6224-EA65-7D4B5A5D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485961-7C9D-200B-4431-6A3C23589E83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D0E020-B355-FC08-B47C-6B866D14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82" y="270942"/>
            <a:ext cx="5807435" cy="631611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24238B7-4DAA-D23F-1D47-904A13035D45}"/>
              </a:ext>
            </a:extLst>
          </p:cNvPr>
          <p:cNvSpPr/>
          <p:nvPr/>
        </p:nvSpPr>
        <p:spPr>
          <a:xfrm>
            <a:off x="3176041" y="3848986"/>
            <a:ext cx="5516076" cy="7868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3625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6F97-D016-E1F1-AC38-22461657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EA0539-261A-F927-AF05-0E30FD2D7247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70C4F1-071A-95A5-69F3-99E384256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871" y="671296"/>
            <a:ext cx="5328258" cy="551540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15A6AD5-F72E-DCFC-7003-F34111351BA1}"/>
              </a:ext>
            </a:extLst>
          </p:cNvPr>
          <p:cNvSpPr/>
          <p:nvPr/>
        </p:nvSpPr>
        <p:spPr>
          <a:xfrm flipV="1">
            <a:off x="4486940" y="5092993"/>
            <a:ext cx="4167962" cy="4944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711718-9E4B-60F5-5A8D-D57CBB0625D8}"/>
              </a:ext>
            </a:extLst>
          </p:cNvPr>
          <p:cNvSpPr/>
          <p:nvPr/>
        </p:nvSpPr>
        <p:spPr>
          <a:xfrm flipV="1">
            <a:off x="7644810" y="5639848"/>
            <a:ext cx="1010092" cy="4944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2629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5184-860E-BA90-8F8A-E1FDFADD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EF93F01-4F7C-9A90-FBEA-3A6C1552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97" y="1036673"/>
            <a:ext cx="11071205" cy="54651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EF366-AF5D-4E40-6014-7194B3458585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65F91B-2528-193D-4CF0-510722B8EA17}"/>
              </a:ext>
            </a:extLst>
          </p:cNvPr>
          <p:cNvSpPr/>
          <p:nvPr/>
        </p:nvSpPr>
        <p:spPr>
          <a:xfrm>
            <a:off x="560397" y="3822405"/>
            <a:ext cx="1955941" cy="3561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8345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3577-2B7C-2BA0-3B2A-330CB0E7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ACC7A9-F440-8C42-35B9-6B1FB7718769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407C4E-E7C7-1D02-F6A3-E38547B8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59" y="1395397"/>
            <a:ext cx="11201482" cy="40672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0877CA1-EEF4-0AFD-2285-AE3E43398633}"/>
              </a:ext>
            </a:extLst>
          </p:cNvPr>
          <p:cNvSpPr/>
          <p:nvPr/>
        </p:nvSpPr>
        <p:spPr>
          <a:xfrm>
            <a:off x="9670312" y="1632098"/>
            <a:ext cx="1904966" cy="3561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9994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B43B-6349-04E6-DE3A-17BE0F5A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AA409B5-6AD4-1989-CC87-D1F0B402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00" y="909084"/>
            <a:ext cx="5659966" cy="56379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93E63C-829A-1297-2831-DEF632139947}"/>
              </a:ext>
            </a:extLst>
          </p:cNvPr>
          <p:cNvSpPr txBox="1"/>
          <p:nvPr/>
        </p:nvSpPr>
        <p:spPr>
          <a:xfrm>
            <a:off x="122274" y="122273"/>
            <a:ext cx="1221873" cy="43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b="1" dirty="0"/>
              <a:t>4. </a:t>
            </a:r>
            <a:r>
              <a:rPr lang="en-US" altLang="ko-KR" sz="2000" b="1" dirty="0" err="1"/>
              <a:t>Vercel</a:t>
            </a:r>
            <a:endParaRPr lang="ko-KR" altLang="en-US" sz="2000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CA5A4F-67E4-E4BD-F21C-25DC8098E30C}"/>
              </a:ext>
            </a:extLst>
          </p:cNvPr>
          <p:cNvGrpSpPr/>
          <p:nvPr/>
        </p:nvGrpSpPr>
        <p:grpSpPr>
          <a:xfrm>
            <a:off x="7654126" y="1686589"/>
            <a:ext cx="3132603" cy="2041451"/>
            <a:chOff x="7228825" y="903768"/>
            <a:chExt cx="2415092" cy="144468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0952BEB-86AA-9DD5-08B0-B7E1AF043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286" r="55530" b="74172"/>
            <a:stretch>
              <a:fillRect/>
            </a:stretch>
          </p:blipFill>
          <p:spPr>
            <a:xfrm>
              <a:off x="7228825" y="903768"/>
              <a:ext cx="2415092" cy="1444689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B38252-6528-7F12-6287-D79D024235F3}"/>
                </a:ext>
              </a:extLst>
            </p:cNvPr>
            <p:cNvSpPr/>
            <p:nvPr/>
          </p:nvSpPr>
          <p:spPr>
            <a:xfrm>
              <a:off x="7341780" y="1974655"/>
              <a:ext cx="2031320" cy="236668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A0DC485-51C0-11FC-4FE3-164E9DD28EDB}"/>
              </a:ext>
            </a:extLst>
          </p:cNvPr>
          <p:cNvSpPr txBox="1"/>
          <p:nvPr/>
        </p:nvSpPr>
        <p:spPr>
          <a:xfrm>
            <a:off x="6741042" y="4167104"/>
            <a:ext cx="4952013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/>
              <a:t>Render</a:t>
            </a:r>
            <a:r>
              <a:rPr lang="ko-KR" altLang="en-US" sz="2400" b="1" dirty="0"/>
              <a:t>로 배포한 </a:t>
            </a:r>
            <a:r>
              <a:rPr lang="ko-KR" altLang="en-US" sz="2400" b="1" dirty="0" err="1"/>
              <a:t>백엔드</a:t>
            </a:r>
            <a:r>
              <a:rPr lang="ko-KR" altLang="en-US" sz="2400" b="1" dirty="0"/>
              <a:t> 주소를</a:t>
            </a:r>
            <a:br>
              <a:rPr lang="en-US" altLang="ko-KR" sz="2400" b="1" dirty="0"/>
            </a:br>
            <a:r>
              <a:rPr lang="en-US" altLang="ko-KR" sz="2400" b="1" dirty="0" err="1"/>
              <a:t>Vercel</a:t>
            </a:r>
            <a:r>
              <a:rPr lang="ko-KR" altLang="en-US" sz="2400" b="1" dirty="0"/>
              <a:t>에서 환경 변수로 관리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18394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874</Words>
  <Application>Microsoft Office PowerPoint</Application>
  <PresentationFormat>와이드스크린</PresentationFormat>
  <Paragraphs>166</Paragraphs>
  <Slides>67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지찬 최</dc:creator>
  <cp:lastModifiedBy>지찬 최</cp:lastModifiedBy>
  <cp:revision>66</cp:revision>
  <dcterms:created xsi:type="dcterms:W3CDTF">2026-08-31T00:35:03Z</dcterms:created>
  <dcterms:modified xsi:type="dcterms:W3CDTF">2026-09-10T08:14:15Z</dcterms:modified>
</cp:coreProperties>
</file>